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56" r:id="rId14"/>
    <p:sldId id="268" r:id="rId15"/>
  </p:sldIdLst>
  <p:sldSz cx="12192000" cy="6858000"/>
  <p:notesSz cx="6858000" cy="12192000"/>
  <p:embeddedFontLst>
    <p:embeddedFont>
      <p:font typeface="Liter" panose="020B0604020202020204" charset="0"/>
      <p:regular r:id="rId17"/>
    </p:embeddedFont>
    <p:embeddedFont>
      <p:font typeface="Oranienbaum" panose="02000506080000020003" pitchFamily="2" charset="0"/>
      <p:regular r:id="rId18"/>
    </p:embeddedFont>
    <p:embeddedFont>
      <p:font typeface="Quattrocento Sans" panose="020B0502050000020003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92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A093-F624-F5EF-1E65-74D5FCAD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4BA2D-CFBF-6515-3995-55FA19D7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3E988-25D4-900D-117A-FC296211B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08F34-0AA3-087A-90B1-F2C909476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72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5C8D5-8915-4818-2A0A-1AAFF066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d004a43e316a2818d0a9e22552125d669ab0a7ff.jpeg">
            <a:extLst>
              <a:ext uri="{FF2B5EF4-FFF2-40B4-BE49-F238E27FC236}">
                <a16:creationId xmlns:a16="http://schemas.microsoft.com/office/drawing/2014/main" id="{92C5903B-4D64-9358-3F57-9742A2647F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66A482D-C1CB-8AF4-C759-1AA24D4575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85000"/>
                </a:srgbClr>
              </a:gs>
              <a:gs pos="100000">
                <a:srgbClr val="5A7A96">
                  <a:alpha val="7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25B552A-41DC-ED29-C13B-9ECDAB6B452C}"/>
              </a:ext>
            </a:extLst>
          </p:cNvPr>
          <p:cNvSpPr/>
          <p:nvPr/>
        </p:nvSpPr>
        <p:spPr>
          <a:xfrm>
            <a:off x="381000" y="381000"/>
            <a:ext cx="1128623" cy="342900"/>
          </a:xfrm>
          <a:custGeom>
            <a:avLst/>
            <a:gdLst/>
            <a:ahLst/>
            <a:cxnLst/>
            <a:rect l="l" t="t" r="r" b="b"/>
            <a:pathLst>
              <a:path w="1819275" h="342900">
                <a:moveTo>
                  <a:pt x="0" y="0"/>
                </a:moveTo>
                <a:lnTo>
                  <a:pt x="1819275" y="0"/>
                </a:lnTo>
                <a:lnTo>
                  <a:pt x="1819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35E1BD0-27BA-0F95-139D-64D3AADA5693}"/>
              </a:ext>
            </a:extLst>
          </p:cNvPr>
          <p:cNvSpPr/>
          <p:nvPr/>
        </p:nvSpPr>
        <p:spPr>
          <a:xfrm>
            <a:off x="381000" y="381000"/>
            <a:ext cx="1068238" cy="339725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PROPOSAL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AD0D098-FC10-B58E-1593-7E41F379E310}"/>
              </a:ext>
            </a:extLst>
          </p:cNvPr>
          <p:cNvSpPr/>
          <p:nvPr/>
        </p:nvSpPr>
        <p:spPr>
          <a:xfrm>
            <a:off x="9474101" y="381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 698 - Information Systems Capstone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6EF7190-A192-00F7-99CC-946F64C0E848}"/>
              </a:ext>
            </a:extLst>
          </p:cNvPr>
          <p:cNvSpPr/>
          <p:nvPr/>
        </p:nvSpPr>
        <p:spPr>
          <a:xfrm>
            <a:off x="381000" y="16256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JobTrack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113B07A-D222-B3D8-7022-7B1A3ADB9B63}"/>
              </a:ext>
            </a:extLst>
          </p:cNvPr>
          <p:cNvSpPr/>
          <p:nvPr/>
        </p:nvSpPr>
        <p:spPr>
          <a:xfrm>
            <a:off x="381000" y="2711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593A9F9-631C-256E-9C03-9D5154DACAF7}"/>
              </a:ext>
            </a:extLst>
          </p:cNvPr>
          <p:cNvSpPr/>
          <p:nvPr/>
        </p:nvSpPr>
        <p:spPr>
          <a:xfrm>
            <a:off x="381000" y="2978150"/>
            <a:ext cx="116014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700" dirty="0">
                <a:solidFill>
                  <a:srgbClr val="F8F9FA">
                    <a:alpha val="95000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Job/Internship Application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700" dirty="0">
                <a:solidFill>
                  <a:srgbClr val="F8F9FA">
                    <a:alpha val="95000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Tracking System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E7F82BF-C6E0-897B-37D0-7F5F8A97564D}"/>
              </a:ext>
            </a:extLst>
          </p:cNvPr>
          <p:cNvSpPr/>
          <p:nvPr/>
        </p:nvSpPr>
        <p:spPr>
          <a:xfrm>
            <a:off x="381000" y="4225925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centralized information system for university Career Services offices to transform fragmented manual processes into streamlined digital workflows</a:t>
            </a:r>
            <a:endParaRPr lang="en-US" sz="1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88600B6-79A0-7662-A9D7-9803CDAE6CA7}"/>
              </a:ext>
            </a:extLst>
          </p:cNvPr>
          <p:cNvSpPr/>
          <p:nvPr/>
        </p:nvSpPr>
        <p:spPr>
          <a:xfrm>
            <a:off x="381000" y="57499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591471-B679-E769-9C04-47392F86ACA2}"/>
              </a:ext>
            </a:extLst>
          </p:cNvPr>
          <p:cNvSpPr/>
          <p:nvPr/>
        </p:nvSpPr>
        <p:spPr>
          <a:xfrm>
            <a:off x="381000" y="59817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E15EB32-C5A7-E753-4225-151BA86B4E16}"/>
              </a:ext>
            </a:extLst>
          </p:cNvPr>
          <p:cNvSpPr/>
          <p:nvPr/>
        </p:nvSpPr>
        <p:spPr>
          <a:xfrm>
            <a:off x="381000" y="62103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5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FD64D0-3488-DE48-DFD0-48E8E1099F67}"/>
              </a:ext>
            </a:extLst>
          </p:cNvPr>
          <p:cNvSpPr/>
          <p:nvPr/>
        </p:nvSpPr>
        <p:spPr>
          <a:xfrm>
            <a:off x="10419159" y="59817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Date</a:t>
            </a:r>
            <a:endParaRPr lang="en-US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F2A8C13-1FE4-D886-BD1F-7E72C7F7828A}"/>
              </a:ext>
            </a:extLst>
          </p:cNvPr>
          <p:cNvSpPr/>
          <p:nvPr/>
        </p:nvSpPr>
        <p:spPr>
          <a:xfrm>
            <a:off x="10400109" y="62103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January 28,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195762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50419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kern="0" spc="52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640692"/>
            <a:ext cx="1166437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878" y="1243697"/>
            <a:ext cx="904507" cy="37688"/>
          </a:xfrm>
          <a:custGeom>
            <a:avLst/>
            <a:gdLst/>
            <a:ahLst/>
            <a:cxnLst/>
            <a:rect l="l" t="t" r="r" b="b"/>
            <a:pathLst>
              <a:path w="904507" h="37688">
                <a:moveTo>
                  <a:pt x="0" y="0"/>
                </a:moveTo>
                <a:lnTo>
                  <a:pt x="904507" y="0"/>
                </a:lnTo>
                <a:lnTo>
                  <a:pt x="904507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5722" y="1582887"/>
            <a:ext cx="5587215" cy="1507512"/>
          </a:xfrm>
          <a:custGeom>
            <a:avLst/>
            <a:gdLst/>
            <a:ahLst/>
            <a:cxnLst/>
            <a:rect l="l" t="t" r="r" b="b"/>
            <a:pathLst>
              <a:path w="5587215" h="1507512">
                <a:moveTo>
                  <a:pt x="37688" y="0"/>
                </a:moveTo>
                <a:lnTo>
                  <a:pt x="5511839" y="0"/>
                </a:lnTo>
                <a:cubicBezTo>
                  <a:pt x="5553468" y="0"/>
                  <a:pt x="5587215" y="33747"/>
                  <a:pt x="5587215" y="75376"/>
                </a:cubicBezTo>
                <a:lnTo>
                  <a:pt x="5587215" y="1432136"/>
                </a:lnTo>
                <a:cubicBezTo>
                  <a:pt x="5587215" y="1473765"/>
                  <a:pt x="5553468" y="1507512"/>
                  <a:pt x="5511839" y="1507512"/>
                </a:cubicBezTo>
                <a:lnTo>
                  <a:pt x="37688" y="1507512"/>
                </a:lnTo>
                <a:cubicBezTo>
                  <a:pt x="16873" y="1507512"/>
                  <a:pt x="0" y="1490638"/>
                  <a:pt x="0" y="146982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5722" y="1582887"/>
            <a:ext cx="37688" cy="1507512"/>
          </a:xfrm>
          <a:custGeom>
            <a:avLst/>
            <a:gdLst/>
            <a:ahLst/>
            <a:cxnLst/>
            <a:rect l="l" t="t" r="r" b="b"/>
            <a:pathLst>
              <a:path w="37688" h="1507512">
                <a:moveTo>
                  <a:pt x="37688" y="0"/>
                </a:moveTo>
                <a:lnTo>
                  <a:pt x="37688" y="0"/>
                </a:lnTo>
                <a:lnTo>
                  <a:pt x="37688" y="1507512"/>
                </a:lnTo>
                <a:lnTo>
                  <a:pt x="37688" y="1507512"/>
                </a:lnTo>
                <a:cubicBezTo>
                  <a:pt x="16873" y="1507512"/>
                  <a:pt x="0" y="1490638"/>
                  <a:pt x="0" y="146982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692" y="1809014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3583" y="1809014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697" y="1903233"/>
            <a:ext cx="292080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&amp; 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697" y="2374331"/>
            <a:ext cx="4588488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Career Services challenge and fragmented tracking landscape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8889" y="1582887"/>
            <a:ext cx="5587215" cy="1507512"/>
          </a:xfrm>
          <a:custGeom>
            <a:avLst/>
            <a:gdLst/>
            <a:ahLst/>
            <a:cxnLst/>
            <a:rect l="l" t="t" r="r" b="b"/>
            <a:pathLst>
              <a:path w="5587215" h="1507512">
                <a:moveTo>
                  <a:pt x="37688" y="0"/>
                </a:moveTo>
                <a:lnTo>
                  <a:pt x="5511839" y="0"/>
                </a:lnTo>
                <a:cubicBezTo>
                  <a:pt x="5553468" y="0"/>
                  <a:pt x="5587215" y="33747"/>
                  <a:pt x="5587215" y="75376"/>
                </a:cubicBezTo>
                <a:lnTo>
                  <a:pt x="5587215" y="1432136"/>
                </a:lnTo>
                <a:cubicBezTo>
                  <a:pt x="5587215" y="1473765"/>
                  <a:pt x="5553468" y="1507512"/>
                  <a:pt x="5511839" y="1507512"/>
                </a:cubicBezTo>
                <a:lnTo>
                  <a:pt x="37688" y="1507512"/>
                </a:lnTo>
                <a:cubicBezTo>
                  <a:pt x="16873" y="1507512"/>
                  <a:pt x="0" y="1490638"/>
                  <a:pt x="0" y="146982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28889" y="1582887"/>
            <a:ext cx="37688" cy="1507512"/>
          </a:xfrm>
          <a:custGeom>
            <a:avLst/>
            <a:gdLst/>
            <a:ahLst/>
            <a:cxnLst/>
            <a:rect l="l" t="t" r="r" b="b"/>
            <a:pathLst>
              <a:path w="37688" h="1507512">
                <a:moveTo>
                  <a:pt x="37688" y="0"/>
                </a:moveTo>
                <a:lnTo>
                  <a:pt x="37688" y="0"/>
                </a:lnTo>
                <a:lnTo>
                  <a:pt x="37688" y="1507512"/>
                </a:lnTo>
                <a:lnTo>
                  <a:pt x="37688" y="1507512"/>
                </a:lnTo>
                <a:cubicBezTo>
                  <a:pt x="16873" y="1507512"/>
                  <a:pt x="0" y="1490638"/>
                  <a:pt x="0" y="146982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3860" y="1931499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6750" y="1931499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76864" y="2025719"/>
            <a:ext cx="166768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Problems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6864" y="2496816"/>
            <a:ext cx="458848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critical challenges facing university career centers today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722" y="3316526"/>
            <a:ext cx="5587215" cy="1262541"/>
          </a:xfrm>
          <a:custGeom>
            <a:avLst/>
            <a:gdLst/>
            <a:ahLst/>
            <a:cxnLst/>
            <a:rect l="l" t="t" r="r" b="b"/>
            <a:pathLst>
              <a:path w="5587215" h="1262541">
                <a:moveTo>
                  <a:pt x="37688" y="0"/>
                </a:moveTo>
                <a:lnTo>
                  <a:pt x="5511841" y="0"/>
                </a:lnTo>
                <a:cubicBezTo>
                  <a:pt x="5553469" y="0"/>
                  <a:pt x="5587215" y="33746"/>
                  <a:pt x="5587215" y="75374"/>
                </a:cubicBezTo>
                <a:lnTo>
                  <a:pt x="5587215" y="1187167"/>
                </a:lnTo>
                <a:cubicBezTo>
                  <a:pt x="5587215" y="1228795"/>
                  <a:pt x="5553469" y="1262541"/>
                  <a:pt x="5511841" y="1262541"/>
                </a:cubicBez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5722" y="3316526"/>
            <a:ext cx="37688" cy="1262541"/>
          </a:xfrm>
          <a:custGeom>
            <a:avLst/>
            <a:gdLst/>
            <a:ahLst/>
            <a:cxnLst/>
            <a:rect l="l" t="t" r="r" b="b"/>
            <a:pathLst>
              <a:path w="37688" h="1262541">
                <a:moveTo>
                  <a:pt x="37688" y="0"/>
                </a:moveTo>
                <a:lnTo>
                  <a:pt x="37688" y="0"/>
                </a:lnTo>
                <a:lnTo>
                  <a:pt x="37688" y="1262541"/>
                </a:ln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692" y="3542652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3583" y="3542652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3697" y="3636872"/>
            <a:ext cx="234606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 &amp; Scope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3697" y="4107969"/>
            <a:ext cx="458848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vision, technology stack, and system boundaries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8889" y="3316526"/>
            <a:ext cx="5587215" cy="1262541"/>
          </a:xfrm>
          <a:custGeom>
            <a:avLst/>
            <a:gdLst/>
            <a:ahLst/>
            <a:cxnLst/>
            <a:rect l="l" t="t" r="r" b="b"/>
            <a:pathLst>
              <a:path w="5587215" h="1262541">
                <a:moveTo>
                  <a:pt x="37688" y="0"/>
                </a:moveTo>
                <a:lnTo>
                  <a:pt x="5511841" y="0"/>
                </a:lnTo>
                <a:cubicBezTo>
                  <a:pt x="5553469" y="0"/>
                  <a:pt x="5587215" y="33746"/>
                  <a:pt x="5587215" y="75374"/>
                </a:cubicBezTo>
                <a:lnTo>
                  <a:pt x="5587215" y="1187167"/>
                </a:lnTo>
                <a:cubicBezTo>
                  <a:pt x="5587215" y="1228795"/>
                  <a:pt x="5553469" y="1262541"/>
                  <a:pt x="5511841" y="1262541"/>
                </a:cubicBez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28889" y="3316526"/>
            <a:ext cx="37688" cy="1262541"/>
          </a:xfrm>
          <a:custGeom>
            <a:avLst/>
            <a:gdLst/>
            <a:ahLst/>
            <a:cxnLst/>
            <a:rect l="l" t="t" r="r" b="b"/>
            <a:pathLst>
              <a:path w="37688" h="1262541">
                <a:moveTo>
                  <a:pt x="37688" y="0"/>
                </a:moveTo>
                <a:lnTo>
                  <a:pt x="37688" y="0"/>
                </a:lnTo>
                <a:lnTo>
                  <a:pt x="37688" y="1262541"/>
                </a:ln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73860" y="3542652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26750" y="3542652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6864" y="3636872"/>
            <a:ext cx="273236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&amp; Modules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76864" y="4107969"/>
            <a:ext cx="458848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design and three-user ecosystem implementation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5722" y="4805193"/>
            <a:ext cx="5587215" cy="1262541"/>
          </a:xfrm>
          <a:custGeom>
            <a:avLst/>
            <a:gdLst/>
            <a:ahLst/>
            <a:cxnLst/>
            <a:rect l="l" t="t" r="r" b="b"/>
            <a:pathLst>
              <a:path w="5587215" h="1262541">
                <a:moveTo>
                  <a:pt x="37688" y="0"/>
                </a:moveTo>
                <a:lnTo>
                  <a:pt x="5511841" y="0"/>
                </a:lnTo>
                <a:cubicBezTo>
                  <a:pt x="5553469" y="0"/>
                  <a:pt x="5587215" y="33746"/>
                  <a:pt x="5587215" y="75374"/>
                </a:cubicBezTo>
                <a:lnTo>
                  <a:pt x="5587215" y="1187167"/>
                </a:lnTo>
                <a:cubicBezTo>
                  <a:pt x="5587215" y="1228795"/>
                  <a:pt x="5553469" y="1262541"/>
                  <a:pt x="5511841" y="1262541"/>
                </a:cubicBez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5722" y="4805193"/>
            <a:ext cx="37688" cy="1262541"/>
          </a:xfrm>
          <a:custGeom>
            <a:avLst/>
            <a:gdLst/>
            <a:ahLst/>
            <a:cxnLst/>
            <a:rect l="l" t="t" r="r" b="b"/>
            <a:pathLst>
              <a:path w="37688" h="1262541">
                <a:moveTo>
                  <a:pt x="37688" y="0"/>
                </a:moveTo>
                <a:lnTo>
                  <a:pt x="37688" y="0"/>
                </a:lnTo>
                <a:lnTo>
                  <a:pt x="37688" y="1262541"/>
                </a:ln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692" y="5031320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3583" y="5031320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3697" y="5125539"/>
            <a:ext cx="1677107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 Analysis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43697" y="5596637"/>
            <a:ext cx="458848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Economic, schedule, technical, and operational viability assessment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8889" y="4805193"/>
            <a:ext cx="5587215" cy="1262541"/>
          </a:xfrm>
          <a:custGeom>
            <a:avLst/>
            <a:gdLst/>
            <a:ahLst/>
            <a:cxnLst/>
            <a:rect l="l" t="t" r="r" b="b"/>
            <a:pathLst>
              <a:path w="5587215" h="1262541">
                <a:moveTo>
                  <a:pt x="37688" y="0"/>
                </a:moveTo>
                <a:lnTo>
                  <a:pt x="5511841" y="0"/>
                </a:lnTo>
                <a:cubicBezTo>
                  <a:pt x="5553469" y="0"/>
                  <a:pt x="5587215" y="33746"/>
                  <a:pt x="5587215" y="75374"/>
                </a:cubicBezTo>
                <a:lnTo>
                  <a:pt x="5587215" y="1187167"/>
                </a:lnTo>
                <a:cubicBezTo>
                  <a:pt x="5587215" y="1228795"/>
                  <a:pt x="5553469" y="1262541"/>
                  <a:pt x="5511841" y="1262541"/>
                </a:cubicBez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28889" y="4805193"/>
            <a:ext cx="37688" cy="1262541"/>
          </a:xfrm>
          <a:custGeom>
            <a:avLst/>
            <a:gdLst/>
            <a:ahLst/>
            <a:cxnLst/>
            <a:rect l="l" t="t" r="r" b="b"/>
            <a:pathLst>
              <a:path w="37688" h="1262541">
                <a:moveTo>
                  <a:pt x="37688" y="0"/>
                </a:moveTo>
                <a:lnTo>
                  <a:pt x="37688" y="0"/>
                </a:lnTo>
                <a:lnTo>
                  <a:pt x="37688" y="1262541"/>
                </a:lnTo>
                <a:lnTo>
                  <a:pt x="37688" y="1262541"/>
                </a:lnTo>
                <a:cubicBezTo>
                  <a:pt x="16873" y="1262541"/>
                  <a:pt x="0" y="1245668"/>
                  <a:pt x="0" y="122485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73860" y="5031320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26750" y="5031320"/>
            <a:ext cx="546473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76864" y="5125539"/>
            <a:ext cx="214820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Timeline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76864" y="5596637"/>
            <a:ext cx="458848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14-week development plan with six structured phases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6878" y="6293861"/>
            <a:ext cx="11438244" cy="565317"/>
          </a:xfrm>
          <a:custGeom>
            <a:avLst/>
            <a:gdLst/>
            <a:ahLst/>
            <a:cxnLst/>
            <a:rect l="l" t="t" r="r" b="b"/>
            <a:pathLst>
              <a:path w="11438244" h="565317">
                <a:moveTo>
                  <a:pt x="75374" y="0"/>
                </a:moveTo>
                <a:lnTo>
                  <a:pt x="11362871" y="0"/>
                </a:lnTo>
                <a:cubicBezTo>
                  <a:pt x="11404498" y="0"/>
                  <a:pt x="11438244" y="33746"/>
                  <a:pt x="11438244" y="75374"/>
                </a:cubicBezTo>
                <a:lnTo>
                  <a:pt x="11438244" y="489943"/>
                </a:lnTo>
                <a:cubicBezTo>
                  <a:pt x="11438244" y="531571"/>
                  <a:pt x="11404498" y="565317"/>
                  <a:pt x="11362871" y="565317"/>
                </a:cubicBezTo>
                <a:lnTo>
                  <a:pt x="75374" y="565317"/>
                </a:lnTo>
                <a:cubicBezTo>
                  <a:pt x="33746" y="565317"/>
                  <a:pt x="0" y="531571"/>
                  <a:pt x="0" y="489943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1184" y="6482300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64884" y="94219"/>
                </a:moveTo>
                <a:cubicBezTo>
                  <a:pt x="164884" y="55219"/>
                  <a:pt x="133220" y="23555"/>
                  <a:pt x="94219" y="23555"/>
                </a:cubicBezTo>
                <a:cubicBezTo>
                  <a:pt x="55219" y="23555"/>
                  <a:pt x="23555" y="55219"/>
                  <a:pt x="23555" y="94219"/>
                </a:cubicBezTo>
                <a:cubicBezTo>
                  <a:pt x="23555" y="133220"/>
                  <a:pt x="55219" y="164884"/>
                  <a:pt x="94219" y="164884"/>
                </a:cubicBezTo>
                <a:cubicBezTo>
                  <a:pt x="133220" y="164884"/>
                  <a:pt x="164884" y="133220"/>
                  <a:pt x="164884" y="94219"/>
                </a:cubicBezTo>
                <a:close/>
                <a:moveTo>
                  <a:pt x="0" y="94219"/>
                </a:moveTo>
                <a:cubicBezTo>
                  <a:pt x="0" y="42218"/>
                  <a:pt x="42218" y="0"/>
                  <a:pt x="94219" y="0"/>
                </a:cubicBezTo>
                <a:cubicBezTo>
                  <a:pt x="146221" y="0"/>
                  <a:pt x="188439" y="42218"/>
                  <a:pt x="188439" y="94219"/>
                </a:cubicBezTo>
                <a:cubicBezTo>
                  <a:pt x="188439" y="146221"/>
                  <a:pt x="146221" y="188439"/>
                  <a:pt x="94219" y="188439"/>
                </a:cubicBezTo>
                <a:cubicBezTo>
                  <a:pt x="42218" y="188439"/>
                  <a:pt x="0" y="146221"/>
                  <a:pt x="0" y="94219"/>
                </a:cubicBezTo>
                <a:close/>
                <a:moveTo>
                  <a:pt x="94219" y="123663"/>
                </a:moveTo>
                <a:cubicBezTo>
                  <a:pt x="110470" y="123663"/>
                  <a:pt x="123663" y="110470"/>
                  <a:pt x="123663" y="94219"/>
                </a:cubicBezTo>
                <a:cubicBezTo>
                  <a:pt x="123663" y="77969"/>
                  <a:pt x="110470" y="64776"/>
                  <a:pt x="94219" y="64776"/>
                </a:cubicBezTo>
                <a:cubicBezTo>
                  <a:pt x="77969" y="64776"/>
                  <a:pt x="64776" y="77969"/>
                  <a:pt x="64776" y="94219"/>
                </a:cubicBezTo>
                <a:cubicBezTo>
                  <a:pt x="64776" y="110470"/>
                  <a:pt x="77969" y="123663"/>
                  <a:pt x="94219" y="123663"/>
                </a:cubicBezTo>
                <a:close/>
                <a:moveTo>
                  <a:pt x="94219" y="41221"/>
                </a:moveTo>
                <a:cubicBezTo>
                  <a:pt x="123470" y="41221"/>
                  <a:pt x="147218" y="64969"/>
                  <a:pt x="147218" y="94219"/>
                </a:cubicBezTo>
                <a:cubicBezTo>
                  <a:pt x="147218" y="123470"/>
                  <a:pt x="123470" y="147218"/>
                  <a:pt x="94219" y="147218"/>
                </a:cubicBezTo>
                <a:cubicBezTo>
                  <a:pt x="64969" y="147218"/>
                  <a:pt x="41221" y="123470"/>
                  <a:pt x="41221" y="94219"/>
                </a:cubicBezTo>
                <a:cubicBezTo>
                  <a:pt x="41221" y="64969"/>
                  <a:pt x="64969" y="41221"/>
                  <a:pt x="94219" y="41221"/>
                </a:cubicBezTo>
                <a:close/>
                <a:moveTo>
                  <a:pt x="82442" y="94219"/>
                </a:moveTo>
                <a:cubicBezTo>
                  <a:pt x="82442" y="87719"/>
                  <a:pt x="87719" y="82442"/>
                  <a:pt x="94219" y="82442"/>
                </a:cubicBezTo>
                <a:cubicBezTo>
                  <a:pt x="100720" y="82442"/>
                  <a:pt x="105997" y="87719"/>
                  <a:pt x="105997" y="94219"/>
                </a:cubicBezTo>
                <a:cubicBezTo>
                  <a:pt x="105997" y="100720"/>
                  <a:pt x="100720" y="105997"/>
                  <a:pt x="94219" y="105997"/>
                </a:cubicBezTo>
                <a:cubicBezTo>
                  <a:pt x="87719" y="105997"/>
                  <a:pt x="82442" y="100720"/>
                  <a:pt x="82442" y="94219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6241" y="6444612"/>
            <a:ext cx="310924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 &amp; Value Proposition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54438" y="6482300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84979" y="102537"/>
                </a:moveTo>
                <a:cubicBezTo>
                  <a:pt x="189580" y="97937"/>
                  <a:pt x="189580" y="90465"/>
                  <a:pt x="184979" y="85865"/>
                </a:cubicBezTo>
                <a:lnTo>
                  <a:pt x="126092" y="26978"/>
                </a:lnTo>
                <a:cubicBezTo>
                  <a:pt x="121492" y="22377"/>
                  <a:pt x="114020" y="22377"/>
                  <a:pt x="109420" y="26978"/>
                </a:cubicBezTo>
                <a:cubicBezTo>
                  <a:pt x="104819" y="31578"/>
                  <a:pt x="104819" y="39050"/>
                  <a:pt x="109420" y="43650"/>
                </a:cubicBezTo>
                <a:lnTo>
                  <a:pt x="148212" y="82442"/>
                </a:lnTo>
                <a:lnTo>
                  <a:pt x="11777" y="82442"/>
                </a:lnTo>
                <a:cubicBezTo>
                  <a:pt x="5263" y="82442"/>
                  <a:pt x="0" y="87705"/>
                  <a:pt x="0" y="94219"/>
                </a:cubicBezTo>
                <a:cubicBezTo>
                  <a:pt x="0" y="100734"/>
                  <a:pt x="5263" y="105997"/>
                  <a:pt x="11777" y="105997"/>
                </a:cubicBezTo>
                <a:lnTo>
                  <a:pt x="148212" y="105997"/>
                </a:lnTo>
                <a:lnTo>
                  <a:pt x="109420" y="144789"/>
                </a:lnTo>
                <a:cubicBezTo>
                  <a:pt x="104819" y="149389"/>
                  <a:pt x="104819" y="156861"/>
                  <a:pt x="109420" y="161461"/>
                </a:cubicBezTo>
                <a:cubicBezTo>
                  <a:pt x="114020" y="166062"/>
                  <a:pt x="121492" y="166062"/>
                  <a:pt x="126092" y="161461"/>
                </a:cubicBezTo>
                <a:lnTo>
                  <a:pt x="184979" y="102574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Career Services Challenge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906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457325"/>
            <a:ext cx="6705600" cy="1714500"/>
          </a:xfrm>
          <a:custGeom>
            <a:avLst/>
            <a:gdLst/>
            <a:ahLst/>
            <a:cxnLst/>
            <a:rect l="l" t="t" r="r" b="b"/>
            <a:pathLst>
              <a:path w="6705600" h="1714500">
                <a:moveTo>
                  <a:pt x="38100" y="0"/>
                </a:moveTo>
                <a:lnTo>
                  <a:pt x="6629408" y="0"/>
                </a:lnTo>
                <a:cubicBezTo>
                  <a:pt x="6671488" y="0"/>
                  <a:pt x="6705600" y="34112"/>
                  <a:pt x="6705600" y="76192"/>
                </a:cubicBezTo>
                <a:lnTo>
                  <a:pt x="6705600" y="1638308"/>
                </a:lnTo>
                <a:cubicBezTo>
                  <a:pt x="6705600" y="1680388"/>
                  <a:pt x="6671488" y="1714500"/>
                  <a:pt x="6629408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45732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2950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9200" y="1647825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90725"/>
            <a:ext cx="57721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Career Services Center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serves as a critical hub for student success, supporting career advising, employer engagement, and internship/full-time job placement. Universities increasingly emphasize career readiness and placement outcomes as key measures of institutional effectiveness and student satisfaction.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324225"/>
            <a:ext cx="6705600" cy="1714500"/>
          </a:xfrm>
          <a:custGeom>
            <a:avLst/>
            <a:gdLst/>
            <a:ahLst/>
            <a:cxnLst/>
            <a:rect l="l" t="t" r="r" b="b"/>
            <a:pathLst>
              <a:path w="6705600" h="1714500">
                <a:moveTo>
                  <a:pt x="38100" y="0"/>
                </a:moveTo>
                <a:lnTo>
                  <a:pt x="6629408" y="0"/>
                </a:lnTo>
                <a:cubicBezTo>
                  <a:pt x="6671488" y="0"/>
                  <a:pt x="6705600" y="34112"/>
                  <a:pt x="6705600" y="76192"/>
                </a:cubicBezTo>
                <a:lnTo>
                  <a:pt x="6705600" y="1638308"/>
                </a:lnTo>
                <a:cubicBezTo>
                  <a:pt x="6705600" y="1680388"/>
                  <a:pt x="6671488" y="1714500"/>
                  <a:pt x="6629408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0050" y="332422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9600" y="3514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2950" y="3648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19200" y="3514725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Fragmentation Problem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857625"/>
            <a:ext cx="57721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institutions lack a </a:t>
            </a: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centralized, structured system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tracking student applications, advising activity, and outcomes. Information is scattered across spreadsheets, emails, and informal notes, creating significant visibility gaps for advisors and administrators.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5191126"/>
            <a:ext cx="6724650" cy="1466850"/>
          </a:xfrm>
          <a:custGeom>
            <a:avLst/>
            <a:gdLst/>
            <a:ahLst/>
            <a:cxnLst/>
            <a:rect l="l" t="t" r="r" b="b"/>
            <a:pathLst>
              <a:path w="6724650" h="1466850">
                <a:moveTo>
                  <a:pt x="76203" y="0"/>
                </a:moveTo>
                <a:lnTo>
                  <a:pt x="6648447" y="0"/>
                </a:lnTo>
                <a:cubicBezTo>
                  <a:pt x="6690505" y="0"/>
                  <a:pt x="6724650" y="34145"/>
                  <a:pt x="6724650" y="76203"/>
                </a:cubicBezTo>
                <a:lnTo>
                  <a:pt x="6724650" y="1390647"/>
                </a:lnTo>
                <a:cubicBezTo>
                  <a:pt x="6724650" y="1432705"/>
                  <a:pt x="6690505" y="1466850"/>
                  <a:pt x="664844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" y="53816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8663" y="551497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1100" y="5381626"/>
            <a:ext cx="582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JobTrack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5724526"/>
            <a:ext cx="5810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centralized information system designed for university Career Services offices, providing a shared platform for managing application data and outcomes related to both internships and full-time positions.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30480" y="1457325"/>
            <a:ext cx="4476750" cy="5200650"/>
          </a:xfrm>
          <a:custGeom>
            <a:avLst/>
            <a:gdLst/>
            <a:ahLst/>
            <a:cxnLst/>
            <a:rect l="l" t="t" r="r" b="b"/>
            <a:pathLst>
              <a:path w="4476750" h="5200650">
                <a:moveTo>
                  <a:pt x="76194" y="0"/>
                </a:moveTo>
                <a:lnTo>
                  <a:pt x="4400556" y="0"/>
                </a:lnTo>
                <a:cubicBezTo>
                  <a:pt x="4442608" y="0"/>
                  <a:pt x="4476750" y="34142"/>
                  <a:pt x="4476750" y="76194"/>
                </a:cubicBezTo>
                <a:lnTo>
                  <a:pt x="4476750" y="5124456"/>
                </a:lnTo>
                <a:cubicBezTo>
                  <a:pt x="4476750" y="5166537"/>
                  <a:pt x="4442637" y="5200650"/>
                  <a:pt x="4400556" y="5200650"/>
                </a:cubicBezTo>
                <a:lnTo>
                  <a:pt x="76194" y="5200650"/>
                </a:lnTo>
                <a:cubicBezTo>
                  <a:pt x="34142" y="5200650"/>
                  <a:pt x="0" y="5166508"/>
                  <a:pt x="0" y="51244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44792" y="1695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40055" y="1647825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20980" y="206692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Engagement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20980" y="2295525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20980" y="2638425"/>
            <a:ext cx="416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2024 graduates participated in experiential learning, up from 71% in 2021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20980" y="3175000"/>
            <a:ext cx="4095750" cy="6350"/>
          </a:xfrm>
          <a:custGeom>
            <a:avLst/>
            <a:gdLst/>
            <a:ahLst/>
            <a:cxnLst/>
            <a:rect l="l" t="t" r="r" b="b"/>
            <a:pathLst>
              <a:path w="4095750" h="6350">
                <a:moveTo>
                  <a:pt x="0" y="0"/>
                </a:moveTo>
                <a:lnTo>
                  <a:pt x="4095750" y="0"/>
                </a:lnTo>
                <a:lnTo>
                  <a:pt x="4095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20980" y="333057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Readiness Integration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20980" y="3559175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20980" y="390207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faculty integrate career readiness competencies in their courses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0980" y="4248150"/>
            <a:ext cx="4095750" cy="6350"/>
          </a:xfrm>
          <a:custGeom>
            <a:avLst/>
            <a:gdLst/>
            <a:ahLst/>
            <a:cxnLst/>
            <a:rect l="l" t="t" r="r" b="b"/>
            <a:pathLst>
              <a:path w="4095750" h="6350">
                <a:moveTo>
                  <a:pt x="0" y="0"/>
                </a:moveTo>
                <a:lnTo>
                  <a:pt x="4095750" y="0"/>
                </a:lnTo>
                <a:lnTo>
                  <a:pt x="4095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20980" y="440372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Value Perception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20980" y="4632325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20980" y="497522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students endorse education value when career-prepared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0980" y="5318125"/>
            <a:ext cx="415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NACE 2023-2024 Research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kern="0" spc="47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BUSINESS PROBLEMS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Critical Business Problems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31036"/>
            <a:ext cx="824829" cy="34368"/>
          </a:xfrm>
          <a:custGeom>
            <a:avLst/>
            <a:gdLst/>
            <a:ahLst/>
            <a:cxnLst/>
            <a:rect l="l" t="t" r="r" b="b"/>
            <a:pathLst>
              <a:path w="824829" h="34368">
                <a:moveTo>
                  <a:pt x="0" y="0"/>
                </a:moveTo>
                <a:lnTo>
                  <a:pt x="824829" y="0"/>
                </a:lnTo>
                <a:lnTo>
                  <a:pt x="824829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3679" y="1254427"/>
            <a:ext cx="5679290" cy="2139400"/>
          </a:xfrm>
          <a:custGeom>
            <a:avLst/>
            <a:gdLst/>
            <a:ahLst/>
            <a:cxnLst/>
            <a:rect l="l" t="t" r="r" b="b"/>
            <a:pathLst>
              <a:path w="5679290" h="2139400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2070661"/>
                </a:lnTo>
                <a:cubicBezTo>
                  <a:pt x="5679290" y="2108624"/>
                  <a:pt x="5648514" y="2139400"/>
                  <a:pt x="5610551" y="2139400"/>
                </a:cubicBezTo>
                <a:lnTo>
                  <a:pt x="68739" y="2139400"/>
                </a:lnTo>
                <a:cubicBezTo>
                  <a:pt x="30775" y="2139400"/>
                  <a:pt x="0" y="2108624"/>
                  <a:pt x="0" y="20706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76" dist="859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3679" y="1254427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5518" y="1443450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lnTo>
                  <a:pt x="171839" y="0"/>
                </a:lnTo>
                <a:cubicBezTo>
                  <a:pt x="266680" y="0"/>
                  <a:pt x="343679" y="76999"/>
                  <a:pt x="343679" y="171839"/>
                </a:cubicBezTo>
                <a:lnTo>
                  <a:pt x="343679" y="171839"/>
                </a:lnTo>
                <a:cubicBezTo>
                  <a:pt x="343679" y="266680"/>
                  <a:pt x="266680" y="343679"/>
                  <a:pt x="171839" y="343679"/>
                </a:cubicBezTo>
                <a:lnTo>
                  <a:pt x="171839" y="343679"/>
                </a:lnTo>
                <a:cubicBezTo>
                  <a:pt x="76999" y="343679"/>
                  <a:pt x="0" y="266680"/>
                  <a:pt x="0" y="171839"/>
                </a:cubicBezTo>
                <a:lnTo>
                  <a:pt x="0" y="171839"/>
                </a:lnTo>
                <a:cubicBezTo>
                  <a:pt x="0" y="76999"/>
                  <a:pt x="76999" y="0"/>
                  <a:pt x="171839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6854" y="1443450"/>
            <a:ext cx="421006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2300" y="1495002"/>
            <a:ext cx="201052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Centralized Tracking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518" y="1890233"/>
            <a:ext cx="5404347" cy="85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application information is fragmented across personal tools, spreadsheets, and email threads. This limits visibility for advisors and administrators, making it impossible to get a holistic view of student job search activity.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5518" y="2841612"/>
            <a:ext cx="5335611" cy="378047"/>
          </a:xfrm>
          <a:custGeom>
            <a:avLst/>
            <a:gdLst/>
            <a:ahLst/>
            <a:cxnLst/>
            <a:rect l="l" t="t" r="r" b="b"/>
            <a:pathLst>
              <a:path w="5335611" h="378047">
                <a:moveTo>
                  <a:pt x="34368" y="0"/>
                </a:moveTo>
                <a:lnTo>
                  <a:pt x="5301243" y="0"/>
                </a:lnTo>
                <a:cubicBezTo>
                  <a:pt x="5320224" y="0"/>
                  <a:pt x="5335611" y="15387"/>
                  <a:pt x="5335611" y="34368"/>
                </a:cubicBezTo>
                <a:lnTo>
                  <a:pt x="5335611" y="343678"/>
                </a:lnTo>
                <a:cubicBezTo>
                  <a:pt x="5335611" y="362659"/>
                  <a:pt x="5320224" y="378047"/>
                  <a:pt x="5301243" y="378047"/>
                </a:cubicBezTo>
                <a:lnTo>
                  <a:pt x="34368" y="378047"/>
                </a:lnTo>
                <a:cubicBezTo>
                  <a:pt x="15387" y="378047"/>
                  <a:pt x="0" y="362659"/>
                  <a:pt x="0" y="34367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622" y="2944716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4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Advisors cannot effectively monitor student progress or provide timely guidance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3304" y="1254427"/>
            <a:ext cx="5679290" cy="2139400"/>
          </a:xfrm>
          <a:custGeom>
            <a:avLst/>
            <a:gdLst/>
            <a:ahLst/>
            <a:cxnLst/>
            <a:rect l="l" t="t" r="r" b="b"/>
            <a:pathLst>
              <a:path w="5679290" h="2139400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2070661"/>
                </a:lnTo>
                <a:cubicBezTo>
                  <a:pt x="5679290" y="2108624"/>
                  <a:pt x="5648514" y="2139400"/>
                  <a:pt x="5610551" y="2139400"/>
                </a:cubicBezTo>
                <a:lnTo>
                  <a:pt x="68739" y="2139400"/>
                </a:lnTo>
                <a:cubicBezTo>
                  <a:pt x="30775" y="2139400"/>
                  <a:pt x="0" y="2108624"/>
                  <a:pt x="0" y="20706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76" dist="859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63304" y="1254427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35143" y="1443450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lnTo>
                  <a:pt x="171839" y="0"/>
                </a:lnTo>
                <a:cubicBezTo>
                  <a:pt x="266680" y="0"/>
                  <a:pt x="343679" y="76999"/>
                  <a:pt x="343679" y="171839"/>
                </a:cubicBezTo>
                <a:lnTo>
                  <a:pt x="343679" y="171839"/>
                </a:lnTo>
                <a:cubicBezTo>
                  <a:pt x="343679" y="266680"/>
                  <a:pt x="266680" y="343679"/>
                  <a:pt x="171839" y="343679"/>
                </a:cubicBezTo>
                <a:lnTo>
                  <a:pt x="171839" y="343679"/>
                </a:lnTo>
                <a:cubicBezTo>
                  <a:pt x="76999" y="343679"/>
                  <a:pt x="0" y="266680"/>
                  <a:pt x="0" y="171839"/>
                </a:cubicBezTo>
                <a:lnTo>
                  <a:pt x="0" y="171839"/>
                </a:lnTo>
                <a:cubicBezTo>
                  <a:pt x="0" y="76999"/>
                  <a:pt x="76999" y="0"/>
                  <a:pt x="171839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96480" y="1443450"/>
            <a:ext cx="421006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1926" y="1495002"/>
            <a:ext cx="170980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Advising Insight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5143" y="1890233"/>
            <a:ext cx="5404347" cy="85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structured data, advisors struggle to identify students who are under-applying, stuck in the application process, or in need of early intervention. Reactive advising replaces proactive support.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35143" y="2841612"/>
            <a:ext cx="5335611" cy="378047"/>
          </a:xfrm>
          <a:custGeom>
            <a:avLst/>
            <a:gdLst/>
            <a:ahLst/>
            <a:cxnLst/>
            <a:rect l="l" t="t" r="r" b="b"/>
            <a:pathLst>
              <a:path w="5335611" h="378047">
                <a:moveTo>
                  <a:pt x="34368" y="0"/>
                </a:moveTo>
                <a:lnTo>
                  <a:pt x="5301243" y="0"/>
                </a:lnTo>
                <a:cubicBezTo>
                  <a:pt x="5320224" y="0"/>
                  <a:pt x="5335611" y="15387"/>
                  <a:pt x="5335611" y="34368"/>
                </a:cubicBezTo>
                <a:lnTo>
                  <a:pt x="5335611" y="343678"/>
                </a:lnTo>
                <a:cubicBezTo>
                  <a:pt x="5335611" y="362659"/>
                  <a:pt x="5320224" y="378047"/>
                  <a:pt x="5301243" y="378047"/>
                </a:cubicBezTo>
                <a:lnTo>
                  <a:pt x="34368" y="378047"/>
                </a:lnTo>
                <a:cubicBezTo>
                  <a:pt x="15387" y="378047"/>
                  <a:pt x="0" y="362659"/>
                  <a:pt x="0" y="34367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5A7A96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8247" y="2944716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4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fall through the cracks, missing critical opportunities for support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3679" y="3546154"/>
            <a:ext cx="5679290" cy="2139400"/>
          </a:xfrm>
          <a:custGeom>
            <a:avLst/>
            <a:gdLst/>
            <a:ahLst/>
            <a:cxnLst/>
            <a:rect l="l" t="t" r="r" b="b"/>
            <a:pathLst>
              <a:path w="5679290" h="2139400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2070661"/>
                </a:lnTo>
                <a:cubicBezTo>
                  <a:pt x="5679290" y="2108624"/>
                  <a:pt x="5648514" y="2139400"/>
                  <a:pt x="5610551" y="2139400"/>
                </a:cubicBezTo>
                <a:lnTo>
                  <a:pt x="68739" y="2139400"/>
                </a:lnTo>
                <a:cubicBezTo>
                  <a:pt x="30775" y="2139400"/>
                  <a:pt x="0" y="2108624"/>
                  <a:pt x="0" y="20706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76" dist="859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3679" y="3546154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5518" y="3735177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lnTo>
                  <a:pt x="171839" y="0"/>
                </a:lnTo>
                <a:cubicBezTo>
                  <a:pt x="266680" y="0"/>
                  <a:pt x="343679" y="76999"/>
                  <a:pt x="343679" y="171839"/>
                </a:cubicBezTo>
                <a:lnTo>
                  <a:pt x="343679" y="171839"/>
                </a:lnTo>
                <a:cubicBezTo>
                  <a:pt x="343679" y="266680"/>
                  <a:pt x="266680" y="343679"/>
                  <a:pt x="171839" y="343679"/>
                </a:cubicBezTo>
                <a:lnTo>
                  <a:pt x="171839" y="343679"/>
                </a:lnTo>
                <a:cubicBezTo>
                  <a:pt x="76999" y="343679"/>
                  <a:pt x="0" y="266680"/>
                  <a:pt x="0" y="171839"/>
                </a:cubicBezTo>
                <a:lnTo>
                  <a:pt x="0" y="171839"/>
                </a:lnTo>
                <a:cubicBezTo>
                  <a:pt x="0" y="76999"/>
                  <a:pt x="76999" y="0"/>
                  <a:pt x="171839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6854" y="3735177"/>
            <a:ext cx="421006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2300" y="3786729"/>
            <a:ext cx="1761353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Outcome Reporting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5518" y="4181959"/>
            <a:ext cx="5404347" cy="85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Services teams have difficulty generating reliable reports on placement rates, employer performance, and hiring trends. Manual data compilation is time-consuming and error-prone.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5518" y="5133341"/>
            <a:ext cx="5335611" cy="378047"/>
          </a:xfrm>
          <a:custGeom>
            <a:avLst/>
            <a:gdLst/>
            <a:ahLst/>
            <a:cxnLst/>
            <a:rect l="l" t="t" r="r" b="b"/>
            <a:pathLst>
              <a:path w="5335611" h="378047">
                <a:moveTo>
                  <a:pt x="34368" y="0"/>
                </a:moveTo>
                <a:lnTo>
                  <a:pt x="5301243" y="0"/>
                </a:lnTo>
                <a:cubicBezTo>
                  <a:pt x="5320224" y="0"/>
                  <a:pt x="5335611" y="15387"/>
                  <a:pt x="5335611" y="34368"/>
                </a:cubicBezTo>
                <a:lnTo>
                  <a:pt x="5335611" y="343678"/>
                </a:lnTo>
                <a:cubicBezTo>
                  <a:pt x="5335611" y="362659"/>
                  <a:pt x="5320224" y="378047"/>
                  <a:pt x="5301243" y="378047"/>
                </a:cubicBezTo>
                <a:lnTo>
                  <a:pt x="34368" y="378047"/>
                </a:lnTo>
                <a:cubicBezTo>
                  <a:pt x="15387" y="378047"/>
                  <a:pt x="0" y="362659"/>
                  <a:pt x="0" y="34367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C5A56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622" y="5236445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4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Leadership lacks data for strategic decisions and accreditation reporting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3304" y="3546154"/>
            <a:ext cx="5679290" cy="2139400"/>
          </a:xfrm>
          <a:custGeom>
            <a:avLst/>
            <a:gdLst/>
            <a:ahLst/>
            <a:cxnLst/>
            <a:rect l="l" t="t" r="r" b="b"/>
            <a:pathLst>
              <a:path w="5679290" h="2139400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2070661"/>
                </a:lnTo>
                <a:cubicBezTo>
                  <a:pt x="5679290" y="2108624"/>
                  <a:pt x="5648514" y="2139400"/>
                  <a:pt x="5610551" y="2139400"/>
                </a:cubicBezTo>
                <a:lnTo>
                  <a:pt x="68739" y="2139400"/>
                </a:lnTo>
                <a:cubicBezTo>
                  <a:pt x="30775" y="2139400"/>
                  <a:pt x="0" y="2108624"/>
                  <a:pt x="0" y="20706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76" dist="859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63304" y="3546154"/>
            <a:ext cx="5679290" cy="34368"/>
          </a:xfrm>
          <a:custGeom>
            <a:avLst/>
            <a:gdLst/>
            <a:ahLst/>
            <a:cxnLst/>
            <a:rect l="l" t="t" r="r" b="b"/>
            <a:pathLst>
              <a:path w="5679290" h="34368">
                <a:moveTo>
                  <a:pt x="34368" y="0"/>
                </a:moveTo>
                <a:lnTo>
                  <a:pt x="5644922" y="0"/>
                </a:lnTo>
                <a:cubicBezTo>
                  <a:pt x="5663903" y="0"/>
                  <a:pt x="5679290" y="15387"/>
                  <a:pt x="5679290" y="34368"/>
                </a:cubicBezTo>
                <a:lnTo>
                  <a:pt x="5679290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35143" y="3735177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171839" y="0"/>
                </a:moveTo>
                <a:lnTo>
                  <a:pt x="171839" y="0"/>
                </a:lnTo>
                <a:cubicBezTo>
                  <a:pt x="266680" y="0"/>
                  <a:pt x="343679" y="76999"/>
                  <a:pt x="343679" y="171839"/>
                </a:cubicBezTo>
                <a:lnTo>
                  <a:pt x="343679" y="171839"/>
                </a:lnTo>
                <a:cubicBezTo>
                  <a:pt x="343679" y="266680"/>
                  <a:pt x="266680" y="343679"/>
                  <a:pt x="171839" y="343679"/>
                </a:cubicBezTo>
                <a:lnTo>
                  <a:pt x="171839" y="343679"/>
                </a:lnTo>
                <a:cubicBezTo>
                  <a:pt x="76999" y="343679"/>
                  <a:pt x="0" y="266680"/>
                  <a:pt x="0" y="171839"/>
                </a:cubicBezTo>
                <a:lnTo>
                  <a:pt x="0" y="171839"/>
                </a:lnTo>
                <a:cubicBezTo>
                  <a:pt x="0" y="76999"/>
                  <a:pt x="76999" y="0"/>
                  <a:pt x="171839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96480" y="3735177"/>
            <a:ext cx="421006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1926" y="3786729"/>
            <a:ext cx="2079256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Manual, Inefficient Processes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5143" y="4181959"/>
            <a:ext cx="5404347" cy="85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for accreditation, rankings, or leadership reporting requires significant manual effort. Staff spend hours compiling information that could be automatically generated.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5143" y="5133341"/>
            <a:ext cx="5335611" cy="378047"/>
          </a:xfrm>
          <a:custGeom>
            <a:avLst/>
            <a:gdLst/>
            <a:ahLst/>
            <a:cxnLst/>
            <a:rect l="l" t="t" r="r" b="b"/>
            <a:pathLst>
              <a:path w="5335611" h="378047">
                <a:moveTo>
                  <a:pt x="34368" y="0"/>
                </a:moveTo>
                <a:lnTo>
                  <a:pt x="5301243" y="0"/>
                </a:lnTo>
                <a:cubicBezTo>
                  <a:pt x="5320224" y="0"/>
                  <a:pt x="5335611" y="15387"/>
                  <a:pt x="5335611" y="34368"/>
                </a:cubicBezTo>
                <a:lnTo>
                  <a:pt x="5335611" y="343678"/>
                </a:lnTo>
                <a:cubicBezTo>
                  <a:pt x="5335611" y="362659"/>
                  <a:pt x="5320224" y="378047"/>
                  <a:pt x="5301243" y="378047"/>
                </a:cubicBezTo>
                <a:lnTo>
                  <a:pt x="34368" y="378047"/>
                </a:lnTo>
                <a:cubicBezTo>
                  <a:pt x="15387" y="378047"/>
                  <a:pt x="0" y="362659"/>
                  <a:pt x="0" y="34367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38247" y="5236445"/>
            <a:ext cx="518954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947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Resource waste on administrative tasks instead of student-facing activities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3679" y="5820698"/>
            <a:ext cx="11504643" cy="996668"/>
          </a:xfrm>
          <a:custGeom>
            <a:avLst/>
            <a:gdLst/>
            <a:ahLst/>
            <a:cxnLst/>
            <a:rect l="l" t="t" r="r" b="b"/>
            <a:pathLst>
              <a:path w="11504643" h="996668">
                <a:moveTo>
                  <a:pt x="68740" y="0"/>
                </a:moveTo>
                <a:lnTo>
                  <a:pt x="11435903" y="0"/>
                </a:lnTo>
                <a:cubicBezTo>
                  <a:pt x="11473867" y="0"/>
                  <a:pt x="11504643" y="30776"/>
                  <a:pt x="11504643" y="68740"/>
                </a:cubicBezTo>
                <a:lnTo>
                  <a:pt x="11504643" y="927928"/>
                </a:lnTo>
                <a:cubicBezTo>
                  <a:pt x="11504643" y="965892"/>
                  <a:pt x="11473867" y="996668"/>
                  <a:pt x="11435903" y="996668"/>
                </a:cubicBezTo>
                <a:lnTo>
                  <a:pt x="68740" y="996668"/>
                </a:lnTo>
                <a:cubicBezTo>
                  <a:pt x="30776" y="996668"/>
                  <a:pt x="0" y="965892"/>
                  <a:pt x="0" y="927928"/>
                </a:cubicBezTo>
                <a:lnTo>
                  <a:pt x="0" y="68740"/>
                </a:lnTo>
                <a:cubicBezTo>
                  <a:pt x="0" y="30801"/>
                  <a:pt x="30801" y="0"/>
                  <a:pt x="6874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1150" y="6112825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8190" y="6112825"/>
            <a:ext cx="498334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3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1036" y="5958170"/>
            <a:ext cx="10757142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Opportunities for Improvement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1036" y="6233113"/>
            <a:ext cx="10748550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structured data, offices cannot easily evaluate which employers, programs, or strategies lead to the best outcomes. Continuous improvement becomes guesswork rather than data-driven decision making.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PROJECT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 &amp; High-Level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7496175" cy="1905000"/>
          </a:xfrm>
          <a:custGeom>
            <a:avLst/>
            <a:gdLst/>
            <a:ahLst/>
            <a:cxnLst/>
            <a:rect l="l" t="t" r="r" b="b"/>
            <a:pathLst>
              <a:path w="7496175" h="1905000">
                <a:moveTo>
                  <a:pt x="76200" y="0"/>
                </a:moveTo>
                <a:lnTo>
                  <a:pt x="7419975" y="0"/>
                </a:lnTo>
                <a:cubicBezTo>
                  <a:pt x="7462031" y="0"/>
                  <a:pt x="7496175" y="34144"/>
                  <a:pt x="7496175" y="76200"/>
                </a:cubicBezTo>
                <a:lnTo>
                  <a:pt x="7496175" y="1828800"/>
                </a:lnTo>
                <a:cubicBezTo>
                  <a:pt x="7496175" y="1870856"/>
                  <a:pt x="7462031" y="1905000"/>
                  <a:pt x="7419975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714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1100" y="167640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09800"/>
            <a:ext cx="7124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develop a </a:t>
            </a:r>
            <a:r>
              <a:rPr lang="en-US" sz="1350" b="1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Information System (IS)</a:t>
            </a:r>
            <a:r>
              <a:rPr lang="en-US" sz="13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centralizes the job application process, enabling advisors to manage student profiles, track company interactions, and monitor application statuses in real-time.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26619"/>
            <a:ext cx="7496175" cy="3048000"/>
          </a:xfrm>
          <a:custGeom>
            <a:avLst/>
            <a:gdLst/>
            <a:ahLst/>
            <a:cxnLst/>
            <a:rect l="l" t="t" r="r" b="b"/>
            <a:pathLst>
              <a:path w="7496175" h="3048000">
                <a:moveTo>
                  <a:pt x="76200" y="0"/>
                </a:moveTo>
                <a:lnTo>
                  <a:pt x="7419975" y="0"/>
                </a:lnTo>
                <a:cubicBezTo>
                  <a:pt x="7462031" y="0"/>
                  <a:pt x="7496175" y="34144"/>
                  <a:pt x="7496175" y="76200"/>
                </a:cubicBezTo>
                <a:lnTo>
                  <a:pt x="7496175" y="2971800"/>
                </a:lnTo>
                <a:cubicBezTo>
                  <a:pt x="7496175" y="3013856"/>
                  <a:pt x="7462031" y="3048000"/>
                  <a:pt x="7419975" y="3048000"/>
                </a:cubicBezTo>
                <a:lnTo>
                  <a:pt x="76200" y="3048000"/>
                </a:lnTo>
                <a:cubicBezTo>
                  <a:pt x="34144" y="3048000"/>
                  <a:pt x="0" y="3013856"/>
                  <a:pt x="0" y="297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5313" y="36552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625" y="3617119"/>
            <a:ext cx="697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055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163" y="4055269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036219"/>
            <a:ext cx="645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Application Database: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source of truth for all student job/internship applications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4172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8163" y="4417219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398169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Status Tracking: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Applied → Interview → Offer pipeline visibility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7791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8163" y="4779169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760119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 Dashboard: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pipeline monitoring and intervention tools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51411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8163" y="5141119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122069"/>
            <a:ext cx="522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Administrative Reporting: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outcome analytics and employer metrics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55030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8163" y="5503069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5484019"/>
            <a:ext cx="565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 Control: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Role-based authentication for students, advisors, and admins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4500" y="1390650"/>
            <a:ext cx="3743325" cy="2305050"/>
          </a:xfrm>
          <a:custGeom>
            <a:avLst/>
            <a:gdLst/>
            <a:ahLst/>
            <a:cxnLst/>
            <a:rect l="l" t="t" r="r" b="b"/>
            <a:pathLst>
              <a:path w="3743325" h="2305050">
                <a:moveTo>
                  <a:pt x="38100" y="0"/>
                </a:moveTo>
                <a:lnTo>
                  <a:pt x="3705225" y="0"/>
                </a:lnTo>
                <a:cubicBezTo>
                  <a:pt x="3726253" y="0"/>
                  <a:pt x="3743325" y="17072"/>
                  <a:pt x="3743325" y="38100"/>
                </a:cubicBezTo>
                <a:lnTo>
                  <a:pt x="3743325" y="2228845"/>
                </a:lnTo>
                <a:cubicBezTo>
                  <a:pt x="3743325" y="2270932"/>
                  <a:pt x="3709207" y="2305050"/>
                  <a:pt x="3667120" y="2305050"/>
                </a:cubicBezTo>
                <a:lnTo>
                  <a:pt x="76205" y="2305050"/>
                </a:lnTo>
                <a:cubicBezTo>
                  <a:pt x="34118" y="2305050"/>
                  <a:pt x="0" y="2270932"/>
                  <a:pt x="0" y="22288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64500" y="1390650"/>
            <a:ext cx="3743325" cy="38100"/>
          </a:xfrm>
          <a:custGeom>
            <a:avLst/>
            <a:gdLst/>
            <a:ahLst/>
            <a:cxnLst/>
            <a:rect l="l" t="t" r="r" b="b"/>
            <a:pathLst>
              <a:path w="3743325" h="38100">
                <a:moveTo>
                  <a:pt x="38100" y="0"/>
                </a:moveTo>
                <a:lnTo>
                  <a:pt x="3705225" y="0"/>
                </a:lnTo>
                <a:cubicBezTo>
                  <a:pt x="3726253" y="0"/>
                  <a:pt x="3743325" y="17072"/>
                  <a:pt x="3743325" y="38100"/>
                </a:cubicBezTo>
                <a:lnTo>
                  <a:pt x="37433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68097" y="1647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74075" y="16002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5000" y="2038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62156" y="2133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50300" y="20193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50300" y="22479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50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62156" y="2667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50300" y="255270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50300" y="27813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55000" y="3105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50250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50300" y="308610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Streamlit/Tkinter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50300" y="33147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74025" y="3857625"/>
            <a:ext cx="3724275" cy="2609850"/>
          </a:xfrm>
          <a:custGeom>
            <a:avLst/>
            <a:gdLst/>
            <a:ahLst/>
            <a:cxnLst/>
            <a:rect l="l" t="t" r="r" b="b"/>
            <a:pathLst>
              <a:path w="3724275" h="2609850">
                <a:moveTo>
                  <a:pt x="76208" y="0"/>
                </a:moveTo>
                <a:lnTo>
                  <a:pt x="3648067" y="0"/>
                </a:lnTo>
                <a:cubicBezTo>
                  <a:pt x="3690156" y="0"/>
                  <a:pt x="3724275" y="34119"/>
                  <a:pt x="3724275" y="76208"/>
                </a:cubicBezTo>
                <a:lnTo>
                  <a:pt x="3724275" y="2533642"/>
                </a:lnTo>
                <a:cubicBezTo>
                  <a:pt x="3724275" y="2575731"/>
                  <a:pt x="3690156" y="2609850"/>
                  <a:pt x="3648067" y="2609850"/>
                </a:cubicBezTo>
                <a:lnTo>
                  <a:pt x="76208" y="2609850"/>
                </a:lnTo>
                <a:cubicBezTo>
                  <a:pt x="34119" y="2609850"/>
                  <a:pt x="0" y="2575731"/>
                  <a:pt x="0" y="253364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 w="25400">
            <a:solidFill>
              <a:srgbClr val="C5A5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97863" y="4105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93125" y="4057650"/>
            <a:ext cx="319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74050" y="443865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architecture pattern for modularity, scalability, and maintainability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50" y="5086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64550" y="50482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Tier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UI/UX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4050" y="5353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64550" y="531495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Tier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Business Logic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50" y="56197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64550" y="558165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Tier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Database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Modules: Three-User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390652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5010157"/>
                </a:lnTo>
                <a:cubicBezTo>
                  <a:pt x="3686175" y="5052237"/>
                  <a:pt x="3652062" y="5086350"/>
                  <a:pt x="3609982" y="5086350"/>
                </a:cubicBezTo>
                <a:lnTo>
                  <a:pt x="76193" y="5086350"/>
                </a:lnTo>
                <a:cubicBezTo>
                  <a:pt x="34113" y="5086350"/>
                  <a:pt x="0" y="5052237"/>
                  <a:pt x="0" y="50101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390652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3184527"/>
            <a:ext cx="3686175" cy="6350"/>
          </a:xfrm>
          <a:custGeom>
            <a:avLst/>
            <a:gdLst/>
            <a:ahLst/>
            <a:cxnLst/>
            <a:rect l="l" t="t" r="r" b="b"/>
            <a:pathLst>
              <a:path w="3686175" h="6350">
                <a:moveTo>
                  <a:pt x="0" y="0"/>
                </a:moveTo>
                <a:lnTo>
                  <a:pt x="3686175" y="0"/>
                </a:lnTo>
                <a:lnTo>
                  <a:pt x="3686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16002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8188" y="17526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9200" y="1638302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1905002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247902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Empowers students to manage their job search journey with comprehensive tracking and organization tools.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187701"/>
            <a:ext cx="3686175" cy="3286125"/>
          </a:xfrm>
          <a:custGeom>
            <a:avLst/>
            <a:gdLst/>
            <a:ahLst/>
            <a:cxnLst/>
            <a:rect l="l" t="t" r="r" b="b"/>
            <a:pathLst>
              <a:path w="3686175" h="3286125">
                <a:moveTo>
                  <a:pt x="0" y="0"/>
                </a:moveTo>
                <a:lnTo>
                  <a:pt x="3686175" y="0"/>
                </a:lnTo>
                <a:lnTo>
                  <a:pt x="3686175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" y="3378201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7219" y="37592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4388" y="37211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Login: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Individual account access with authentication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0550" y="42164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828" y="5652"/>
                </a:moveTo>
                <a:cubicBezTo>
                  <a:pt x="117124" y="-52"/>
                  <a:pt x="107904" y="-52"/>
                  <a:pt x="102200" y="5652"/>
                </a:cubicBezTo>
                <a:lnTo>
                  <a:pt x="95845" y="12007"/>
                </a:lnTo>
                <a:lnTo>
                  <a:pt x="121343" y="37505"/>
                </a:lnTo>
                <a:lnTo>
                  <a:pt x="127698" y="31150"/>
                </a:lnTo>
                <a:cubicBezTo>
                  <a:pt x="133402" y="25446"/>
                  <a:pt x="133402" y="16226"/>
                  <a:pt x="127698" y="10522"/>
                </a:cubicBezTo>
                <a:lnTo>
                  <a:pt x="122828" y="5652"/>
                </a:lnTo>
                <a:close/>
                <a:moveTo>
                  <a:pt x="44901" y="62951"/>
                </a:moveTo>
                <a:cubicBezTo>
                  <a:pt x="43313" y="64539"/>
                  <a:pt x="42089" y="66493"/>
                  <a:pt x="41385" y="68654"/>
                </a:cubicBezTo>
                <a:lnTo>
                  <a:pt x="33676" y="91782"/>
                </a:lnTo>
                <a:cubicBezTo>
                  <a:pt x="32921" y="94022"/>
                  <a:pt x="33520" y="96496"/>
                  <a:pt x="35187" y="98189"/>
                </a:cubicBezTo>
                <a:cubicBezTo>
                  <a:pt x="36854" y="99882"/>
                  <a:pt x="39328" y="100455"/>
                  <a:pt x="41594" y="99700"/>
                </a:cubicBezTo>
                <a:lnTo>
                  <a:pt x="64722" y="91991"/>
                </a:lnTo>
                <a:cubicBezTo>
                  <a:pt x="66857" y="91287"/>
                  <a:pt x="68811" y="90063"/>
                  <a:pt x="70425" y="88475"/>
                </a:cubicBezTo>
                <a:lnTo>
                  <a:pt x="112514" y="46334"/>
                </a:lnTo>
                <a:lnTo>
                  <a:pt x="87016" y="20836"/>
                </a:lnTo>
                <a:lnTo>
                  <a:pt x="44901" y="62951"/>
                </a:lnTo>
                <a:close/>
                <a:moveTo>
                  <a:pt x="25003" y="16669"/>
                </a:moveTo>
                <a:cubicBezTo>
                  <a:pt x="11199" y="16669"/>
                  <a:pt x="0" y="27868"/>
                  <a:pt x="0" y="41672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91678" y="133350"/>
                </a:lnTo>
                <a:cubicBezTo>
                  <a:pt x="105482" y="133350"/>
                  <a:pt x="116681" y="122151"/>
                  <a:pt x="116681" y="108347"/>
                </a:cubicBezTo>
                <a:lnTo>
                  <a:pt x="116681" y="83344"/>
                </a:lnTo>
                <a:cubicBezTo>
                  <a:pt x="116681" y="78734"/>
                  <a:pt x="112957" y="75009"/>
                  <a:pt x="108347" y="75009"/>
                </a:cubicBezTo>
                <a:cubicBezTo>
                  <a:pt x="103737" y="75009"/>
                  <a:pt x="100013" y="78734"/>
                  <a:pt x="100013" y="83344"/>
                </a:cubicBezTo>
                <a:lnTo>
                  <a:pt x="100013" y="108347"/>
                </a:lnTo>
                <a:cubicBezTo>
                  <a:pt x="100013" y="112957"/>
                  <a:pt x="96288" y="116681"/>
                  <a:pt x="91678" y="116681"/>
                </a:cubicBezTo>
                <a:lnTo>
                  <a:pt x="25003" y="116681"/>
                </a:lnTo>
                <a:cubicBezTo>
                  <a:pt x="20393" y="116681"/>
                  <a:pt x="16669" y="112957"/>
                  <a:pt x="16669" y="108347"/>
                </a:cubicBezTo>
                <a:lnTo>
                  <a:pt x="16669" y="41672"/>
                </a:lnTo>
                <a:cubicBezTo>
                  <a:pt x="16669" y="37062"/>
                  <a:pt x="20393" y="33337"/>
                  <a:pt x="25003" y="33337"/>
                </a:cubicBezTo>
                <a:lnTo>
                  <a:pt x="50006" y="33337"/>
                </a:lnTo>
                <a:cubicBezTo>
                  <a:pt x="54616" y="33337"/>
                  <a:pt x="58341" y="29613"/>
                  <a:pt x="58341" y="25003"/>
                </a:cubicBezTo>
                <a:cubicBezTo>
                  <a:pt x="58341" y="20393"/>
                  <a:pt x="54616" y="16669"/>
                  <a:pt x="50006" y="16669"/>
                </a:cubicBezTo>
                <a:lnTo>
                  <a:pt x="25003" y="16669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4388" y="41783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Operations: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Create, read, update, delete application records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46736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4388" y="46355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Tracking: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Applied → Interview → Offer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884" y="513080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125016"/>
                </a:moveTo>
                <a:cubicBezTo>
                  <a:pt x="7475" y="125016"/>
                  <a:pt x="0" y="117541"/>
                  <a:pt x="0" y="108347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80609"/>
                </a:lnTo>
                <a:cubicBezTo>
                  <a:pt x="116681" y="85037"/>
                  <a:pt x="114936" y="89282"/>
                  <a:pt x="111811" y="92407"/>
                </a:cubicBezTo>
                <a:lnTo>
                  <a:pt x="84047" y="120145"/>
                </a:lnTo>
                <a:cubicBezTo>
                  <a:pt x="80922" y="123271"/>
                  <a:pt x="76676" y="125016"/>
                  <a:pt x="72249" y="125016"/>
                </a:cubicBezTo>
                <a:lnTo>
                  <a:pt x="16669" y="125016"/>
                </a:lnTo>
                <a:close/>
                <a:moveTo>
                  <a:pt x="101445" y="79177"/>
                </a:moveTo>
                <a:lnTo>
                  <a:pt x="77093" y="79177"/>
                </a:lnTo>
                <a:cubicBezTo>
                  <a:pt x="73629" y="79177"/>
                  <a:pt x="70842" y="81963"/>
                  <a:pt x="70842" y="85427"/>
                </a:cubicBezTo>
                <a:lnTo>
                  <a:pt x="70842" y="109779"/>
                </a:lnTo>
                <a:lnTo>
                  <a:pt x="101445" y="79177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4388" y="509270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Notes: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details, contacts, follow-ups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7219" y="53975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45839" y="91678"/>
                </a:moveTo>
                <a:lnTo>
                  <a:pt x="54173" y="91678"/>
                </a:lnTo>
                <a:cubicBezTo>
                  <a:pt x="58783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37505" y="120848"/>
                </a:lnTo>
                <a:lnTo>
                  <a:pt x="37505" y="100013"/>
                </a:lnTo>
                <a:cubicBezTo>
                  <a:pt x="37505" y="95403"/>
                  <a:pt x="41229" y="91678"/>
                  <a:pt x="45839" y="91678"/>
                </a:cubicBezTo>
                <a:close/>
                <a:moveTo>
                  <a:pt x="25003" y="29170"/>
                </a:moveTo>
                <a:cubicBezTo>
                  <a:pt x="25003" y="26878"/>
                  <a:pt x="26878" y="25003"/>
                  <a:pt x="29170" y="25003"/>
                </a:cubicBezTo>
                <a:lnTo>
                  <a:pt x="37505" y="25003"/>
                </a:lnTo>
                <a:cubicBezTo>
                  <a:pt x="39797" y="25003"/>
                  <a:pt x="41672" y="26878"/>
                  <a:pt x="41672" y="29170"/>
                </a:cubicBezTo>
                <a:lnTo>
                  <a:pt x="41672" y="37505"/>
                </a:lnTo>
                <a:cubicBezTo>
                  <a:pt x="41672" y="39797"/>
                  <a:pt x="39797" y="41672"/>
                  <a:pt x="37505" y="41672"/>
                </a:cubicBezTo>
                <a:lnTo>
                  <a:pt x="29170" y="41672"/>
                </a:lnTo>
                <a:cubicBezTo>
                  <a:pt x="26878" y="41672"/>
                  <a:pt x="25003" y="39797"/>
                  <a:pt x="25003" y="37505"/>
                </a:cubicBezTo>
                <a:lnTo>
                  <a:pt x="25003" y="29170"/>
                </a:lnTo>
                <a:close/>
                <a:moveTo>
                  <a:pt x="62508" y="25003"/>
                </a:moveTo>
                <a:lnTo>
                  <a:pt x="70842" y="25003"/>
                </a:lnTo>
                <a:cubicBezTo>
                  <a:pt x="73134" y="25003"/>
                  <a:pt x="75009" y="26878"/>
                  <a:pt x="75009" y="29170"/>
                </a:cubicBezTo>
                <a:lnTo>
                  <a:pt x="75009" y="37505"/>
                </a:lnTo>
                <a:cubicBezTo>
                  <a:pt x="75009" y="39797"/>
                  <a:pt x="73134" y="41672"/>
                  <a:pt x="70842" y="41672"/>
                </a:cubicBezTo>
                <a:lnTo>
                  <a:pt x="62508" y="41672"/>
                </a:lnTo>
                <a:cubicBezTo>
                  <a:pt x="60216" y="41672"/>
                  <a:pt x="58341" y="39797"/>
                  <a:pt x="58341" y="37505"/>
                </a:cubicBezTo>
                <a:lnTo>
                  <a:pt x="58341" y="29170"/>
                </a:lnTo>
                <a:cubicBezTo>
                  <a:pt x="58341" y="26878"/>
                  <a:pt x="60216" y="25003"/>
                  <a:pt x="62508" y="25003"/>
                </a:cubicBezTo>
                <a:close/>
                <a:moveTo>
                  <a:pt x="25003" y="62508"/>
                </a:moveTo>
                <a:cubicBezTo>
                  <a:pt x="25003" y="60216"/>
                  <a:pt x="26878" y="58341"/>
                  <a:pt x="29170" y="58341"/>
                </a:cubicBezTo>
                <a:lnTo>
                  <a:pt x="37505" y="58341"/>
                </a:lnTo>
                <a:cubicBezTo>
                  <a:pt x="39797" y="58341"/>
                  <a:pt x="41672" y="60216"/>
                  <a:pt x="41672" y="62508"/>
                </a:cubicBezTo>
                <a:lnTo>
                  <a:pt x="41672" y="70842"/>
                </a:lnTo>
                <a:cubicBezTo>
                  <a:pt x="41672" y="73134"/>
                  <a:pt x="39797" y="75009"/>
                  <a:pt x="37505" y="75009"/>
                </a:cubicBezTo>
                <a:lnTo>
                  <a:pt x="29170" y="75009"/>
                </a:lnTo>
                <a:cubicBezTo>
                  <a:pt x="26878" y="75009"/>
                  <a:pt x="25003" y="73134"/>
                  <a:pt x="25003" y="70842"/>
                </a:cubicBezTo>
                <a:lnTo>
                  <a:pt x="25003" y="62508"/>
                </a:lnTo>
                <a:close/>
                <a:moveTo>
                  <a:pt x="62508" y="58341"/>
                </a:moveTo>
                <a:lnTo>
                  <a:pt x="70842" y="58341"/>
                </a:lnTo>
                <a:cubicBezTo>
                  <a:pt x="73134" y="58341"/>
                  <a:pt x="75009" y="60216"/>
                  <a:pt x="75009" y="62508"/>
                </a:cubicBezTo>
                <a:lnTo>
                  <a:pt x="75009" y="70842"/>
                </a:lnTo>
                <a:cubicBezTo>
                  <a:pt x="75009" y="73134"/>
                  <a:pt x="73134" y="75009"/>
                  <a:pt x="70842" y="75009"/>
                </a:cubicBezTo>
                <a:lnTo>
                  <a:pt x="62508" y="75009"/>
                </a:lnTo>
                <a:cubicBezTo>
                  <a:pt x="60216" y="75009"/>
                  <a:pt x="58341" y="73134"/>
                  <a:pt x="58341" y="70842"/>
                </a:cubicBezTo>
                <a:lnTo>
                  <a:pt x="58341" y="62508"/>
                </a:lnTo>
                <a:cubicBezTo>
                  <a:pt x="58341" y="60216"/>
                  <a:pt x="60216" y="58341"/>
                  <a:pt x="62508" y="5834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4388" y="5359401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Fields: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Company, role, application date, status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4500" y="1390652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5010157"/>
                </a:lnTo>
                <a:cubicBezTo>
                  <a:pt x="3686175" y="5052237"/>
                  <a:pt x="3652062" y="5086350"/>
                  <a:pt x="3609982" y="5086350"/>
                </a:cubicBezTo>
                <a:lnTo>
                  <a:pt x="76193" y="5086350"/>
                </a:lnTo>
                <a:cubicBezTo>
                  <a:pt x="34113" y="5086350"/>
                  <a:pt x="0" y="5052237"/>
                  <a:pt x="0" y="50101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54500" y="1390652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54500" y="3184527"/>
            <a:ext cx="3686175" cy="6350"/>
          </a:xfrm>
          <a:custGeom>
            <a:avLst/>
            <a:gdLst/>
            <a:ahLst/>
            <a:cxnLst/>
            <a:rect l="l" t="t" r="r" b="b"/>
            <a:pathLst>
              <a:path w="3686175" h="6350">
                <a:moveTo>
                  <a:pt x="0" y="0"/>
                </a:moveTo>
                <a:lnTo>
                  <a:pt x="3686175" y="0"/>
                </a:lnTo>
                <a:lnTo>
                  <a:pt x="3686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45000" y="16002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68825" y="175260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92700" y="1638302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92700" y="1905002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5000" y="2247902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career advisors with visibility and tools to support student success through proactive engagement.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4500" y="3187701"/>
            <a:ext cx="3686175" cy="3286125"/>
          </a:xfrm>
          <a:custGeom>
            <a:avLst/>
            <a:gdLst/>
            <a:ahLst/>
            <a:cxnLst/>
            <a:rect l="l" t="t" r="r" b="b"/>
            <a:pathLst>
              <a:path w="3686175" h="3286125">
                <a:moveTo>
                  <a:pt x="0" y="0"/>
                </a:moveTo>
                <a:lnTo>
                  <a:pt x="3686175" y="0"/>
                </a:lnTo>
                <a:lnTo>
                  <a:pt x="3686175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45000" y="3378201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0719" y="37592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87888" y="37211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Login: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Advisor account with role-based access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55716" y="421640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87888" y="41783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Pipeline View: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 assigned students' applications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64050" y="46736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25016"/>
                </a:moveTo>
                <a:cubicBezTo>
                  <a:pt x="103503" y="125016"/>
                  <a:pt x="133350" y="97017"/>
                  <a:pt x="133350" y="62508"/>
                </a:cubicBezTo>
                <a:cubicBezTo>
                  <a:pt x="133350" y="27998"/>
                  <a:pt x="103503" y="0"/>
                  <a:pt x="66675" y="0"/>
                </a:cubicBezTo>
                <a:cubicBezTo>
                  <a:pt x="29847" y="0"/>
                  <a:pt x="0" y="27998"/>
                  <a:pt x="0" y="62508"/>
                </a:cubicBezTo>
                <a:cubicBezTo>
                  <a:pt x="0" y="76650"/>
                  <a:pt x="5001" y="89673"/>
                  <a:pt x="13439" y="100143"/>
                </a:cubicBezTo>
                <a:lnTo>
                  <a:pt x="729" y="124182"/>
                </a:lnTo>
                <a:cubicBezTo>
                  <a:pt x="-521" y="126526"/>
                  <a:pt x="-130" y="129391"/>
                  <a:pt x="1667" y="131345"/>
                </a:cubicBezTo>
                <a:cubicBezTo>
                  <a:pt x="3464" y="133298"/>
                  <a:pt x="6303" y="133897"/>
                  <a:pt x="8725" y="132855"/>
                </a:cubicBezTo>
                <a:lnTo>
                  <a:pt x="39562" y="119650"/>
                </a:lnTo>
                <a:cubicBezTo>
                  <a:pt x="47845" y="123088"/>
                  <a:pt x="57012" y="125016"/>
                  <a:pt x="66675" y="125016"/>
                </a:cubicBezTo>
                <a:close/>
                <a:moveTo>
                  <a:pt x="33337" y="54173"/>
                </a:moveTo>
                <a:cubicBezTo>
                  <a:pt x="37937" y="54173"/>
                  <a:pt x="41672" y="57908"/>
                  <a:pt x="41672" y="62508"/>
                </a:cubicBezTo>
                <a:cubicBezTo>
                  <a:pt x="41672" y="67108"/>
                  <a:pt x="37937" y="70842"/>
                  <a:pt x="33337" y="70842"/>
                </a:cubicBezTo>
                <a:cubicBezTo>
                  <a:pt x="28738" y="70842"/>
                  <a:pt x="25003" y="67108"/>
                  <a:pt x="25003" y="62508"/>
                </a:cubicBezTo>
                <a:cubicBezTo>
                  <a:pt x="25003" y="57908"/>
                  <a:pt x="28738" y="54173"/>
                  <a:pt x="33337" y="54173"/>
                </a:cubicBezTo>
                <a:close/>
                <a:moveTo>
                  <a:pt x="66675" y="54173"/>
                </a:moveTo>
                <a:cubicBezTo>
                  <a:pt x="71275" y="54173"/>
                  <a:pt x="75009" y="57908"/>
                  <a:pt x="75009" y="62508"/>
                </a:cubicBezTo>
                <a:cubicBezTo>
                  <a:pt x="75009" y="67108"/>
                  <a:pt x="71275" y="70842"/>
                  <a:pt x="66675" y="70842"/>
                </a:cubicBezTo>
                <a:cubicBezTo>
                  <a:pt x="62075" y="70842"/>
                  <a:pt x="58341" y="67108"/>
                  <a:pt x="58341" y="62508"/>
                </a:cubicBezTo>
                <a:cubicBezTo>
                  <a:pt x="58341" y="57908"/>
                  <a:pt x="62075" y="54173"/>
                  <a:pt x="66675" y="54173"/>
                </a:cubicBezTo>
                <a:close/>
                <a:moveTo>
                  <a:pt x="91678" y="62508"/>
                </a:moveTo>
                <a:cubicBezTo>
                  <a:pt x="91678" y="57908"/>
                  <a:pt x="95413" y="54173"/>
                  <a:pt x="100013" y="54173"/>
                </a:cubicBezTo>
                <a:cubicBezTo>
                  <a:pt x="104612" y="54173"/>
                  <a:pt x="108347" y="57908"/>
                  <a:pt x="108347" y="62508"/>
                </a:cubicBezTo>
                <a:cubicBezTo>
                  <a:pt x="108347" y="67108"/>
                  <a:pt x="104612" y="70842"/>
                  <a:pt x="100013" y="70842"/>
                </a:cubicBezTo>
                <a:cubicBezTo>
                  <a:pt x="95413" y="70842"/>
                  <a:pt x="91678" y="67108"/>
                  <a:pt x="91678" y="62508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87888" y="463550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Advising Notes: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guidance and track interactions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64050" y="49403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87888" y="49022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 Alerts: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students needing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64050" y="53975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87888" y="5359401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Filtering: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status, company, date range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8000" y="1390652"/>
            <a:ext cx="3686175" cy="5086350"/>
          </a:xfrm>
          <a:custGeom>
            <a:avLst/>
            <a:gdLst/>
            <a:ahLst/>
            <a:cxnLst/>
            <a:rect l="l" t="t" r="r" b="b"/>
            <a:pathLst>
              <a:path w="3686175" h="50863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5010157"/>
                </a:lnTo>
                <a:cubicBezTo>
                  <a:pt x="3686175" y="5052237"/>
                  <a:pt x="3652062" y="5086350"/>
                  <a:pt x="3609982" y="5086350"/>
                </a:cubicBezTo>
                <a:lnTo>
                  <a:pt x="76193" y="5086350"/>
                </a:lnTo>
                <a:cubicBezTo>
                  <a:pt x="34113" y="5086350"/>
                  <a:pt x="0" y="5052237"/>
                  <a:pt x="0" y="50101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128000" y="1390652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128000" y="3184527"/>
            <a:ext cx="3686175" cy="6350"/>
          </a:xfrm>
          <a:custGeom>
            <a:avLst/>
            <a:gdLst/>
            <a:ahLst/>
            <a:cxnLst/>
            <a:rect l="l" t="t" r="r" b="b"/>
            <a:pathLst>
              <a:path w="3686175" h="6350">
                <a:moveTo>
                  <a:pt x="0" y="0"/>
                </a:moveTo>
                <a:lnTo>
                  <a:pt x="3686175" y="0"/>
                </a:lnTo>
                <a:lnTo>
                  <a:pt x="3686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318500" y="16002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456613" y="175260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66200" y="1638302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/ Career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6200" y="1905002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Module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8500" y="2247902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administrators to manage institutional data and generate insights for strategic decision-making.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28000" y="3187701"/>
            <a:ext cx="3686175" cy="3286125"/>
          </a:xfrm>
          <a:custGeom>
            <a:avLst/>
            <a:gdLst/>
            <a:ahLst/>
            <a:cxnLst/>
            <a:rect l="l" t="t" r="r" b="b"/>
            <a:pathLst>
              <a:path w="3686175" h="3286125">
                <a:moveTo>
                  <a:pt x="0" y="0"/>
                </a:moveTo>
                <a:lnTo>
                  <a:pt x="3686175" y="0"/>
                </a:lnTo>
                <a:lnTo>
                  <a:pt x="3686175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solidFill>
            <a:srgbClr val="C5A56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18500" y="3378201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54219" y="37592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45839" y="91678"/>
                </a:moveTo>
                <a:lnTo>
                  <a:pt x="54173" y="91678"/>
                </a:lnTo>
                <a:cubicBezTo>
                  <a:pt x="58783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37505" y="120848"/>
                </a:lnTo>
                <a:lnTo>
                  <a:pt x="37505" y="100013"/>
                </a:lnTo>
                <a:cubicBezTo>
                  <a:pt x="37505" y="95403"/>
                  <a:pt x="41229" y="91678"/>
                  <a:pt x="45839" y="91678"/>
                </a:cubicBezTo>
                <a:close/>
                <a:moveTo>
                  <a:pt x="25003" y="29170"/>
                </a:moveTo>
                <a:cubicBezTo>
                  <a:pt x="25003" y="26878"/>
                  <a:pt x="26878" y="25003"/>
                  <a:pt x="29170" y="25003"/>
                </a:cubicBezTo>
                <a:lnTo>
                  <a:pt x="37505" y="25003"/>
                </a:lnTo>
                <a:cubicBezTo>
                  <a:pt x="39797" y="25003"/>
                  <a:pt x="41672" y="26878"/>
                  <a:pt x="41672" y="29170"/>
                </a:cubicBezTo>
                <a:lnTo>
                  <a:pt x="41672" y="37505"/>
                </a:lnTo>
                <a:cubicBezTo>
                  <a:pt x="41672" y="39797"/>
                  <a:pt x="39797" y="41672"/>
                  <a:pt x="37505" y="41672"/>
                </a:cubicBezTo>
                <a:lnTo>
                  <a:pt x="29170" y="41672"/>
                </a:lnTo>
                <a:cubicBezTo>
                  <a:pt x="26878" y="41672"/>
                  <a:pt x="25003" y="39797"/>
                  <a:pt x="25003" y="37505"/>
                </a:cubicBezTo>
                <a:lnTo>
                  <a:pt x="25003" y="29170"/>
                </a:lnTo>
                <a:close/>
                <a:moveTo>
                  <a:pt x="62508" y="25003"/>
                </a:moveTo>
                <a:lnTo>
                  <a:pt x="70842" y="25003"/>
                </a:lnTo>
                <a:cubicBezTo>
                  <a:pt x="73134" y="25003"/>
                  <a:pt x="75009" y="26878"/>
                  <a:pt x="75009" y="29170"/>
                </a:cubicBezTo>
                <a:lnTo>
                  <a:pt x="75009" y="37505"/>
                </a:lnTo>
                <a:cubicBezTo>
                  <a:pt x="75009" y="39797"/>
                  <a:pt x="73134" y="41672"/>
                  <a:pt x="70842" y="41672"/>
                </a:cubicBezTo>
                <a:lnTo>
                  <a:pt x="62508" y="41672"/>
                </a:lnTo>
                <a:cubicBezTo>
                  <a:pt x="60216" y="41672"/>
                  <a:pt x="58341" y="39797"/>
                  <a:pt x="58341" y="37505"/>
                </a:cubicBezTo>
                <a:lnTo>
                  <a:pt x="58341" y="29170"/>
                </a:lnTo>
                <a:cubicBezTo>
                  <a:pt x="58341" y="26878"/>
                  <a:pt x="60216" y="25003"/>
                  <a:pt x="62508" y="25003"/>
                </a:cubicBezTo>
                <a:close/>
                <a:moveTo>
                  <a:pt x="25003" y="62508"/>
                </a:moveTo>
                <a:cubicBezTo>
                  <a:pt x="25003" y="60216"/>
                  <a:pt x="26878" y="58341"/>
                  <a:pt x="29170" y="58341"/>
                </a:cubicBezTo>
                <a:lnTo>
                  <a:pt x="37505" y="58341"/>
                </a:lnTo>
                <a:cubicBezTo>
                  <a:pt x="39797" y="58341"/>
                  <a:pt x="41672" y="60216"/>
                  <a:pt x="41672" y="62508"/>
                </a:cubicBezTo>
                <a:lnTo>
                  <a:pt x="41672" y="70842"/>
                </a:lnTo>
                <a:cubicBezTo>
                  <a:pt x="41672" y="73134"/>
                  <a:pt x="39797" y="75009"/>
                  <a:pt x="37505" y="75009"/>
                </a:cubicBezTo>
                <a:lnTo>
                  <a:pt x="29170" y="75009"/>
                </a:lnTo>
                <a:cubicBezTo>
                  <a:pt x="26878" y="75009"/>
                  <a:pt x="25003" y="73134"/>
                  <a:pt x="25003" y="70842"/>
                </a:cubicBezTo>
                <a:lnTo>
                  <a:pt x="25003" y="62508"/>
                </a:lnTo>
                <a:close/>
                <a:moveTo>
                  <a:pt x="62508" y="58341"/>
                </a:moveTo>
                <a:lnTo>
                  <a:pt x="70842" y="58341"/>
                </a:lnTo>
                <a:cubicBezTo>
                  <a:pt x="73134" y="58341"/>
                  <a:pt x="75009" y="60216"/>
                  <a:pt x="75009" y="62508"/>
                </a:cubicBezTo>
                <a:lnTo>
                  <a:pt x="75009" y="70842"/>
                </a:lnTo>
                <a:cubicBezTo>
                  <a:pt x="75009" y="73134"/>
                  <a:pt x="73134" y="75009"/>
                  <a:pt x="70842" y="75009"/>
                </a:cubicBezTo>
                <a:lnTo>
                  <a:pt x="62508" y="75009"/>
                </a:lnTo>
                <a:cubicBezTo>
                  <a:pt x="60216" y="75009"/>
                  <a:pt x="58341" y="73134"/>
                  <a:pt x="58341" y="70842"/>
                </a:cubicBezTo>
                <a:lnTo>
                  <a:pt x="58341" y="62508"/>
                </a:lnTo>
                <a:cubicBezTo>
                  <a:pt x="58341" y="60216"/>
                  <a:pt x="60216" y="58341"/>
                  <a:pt x="62508" y="58341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61388" y="37211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 Directory: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CRUD operations for company database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9216" y="421640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3454" y="62508"/>
                </a:moveTo>
                <a:lnTo>
                  <a:pt x="87615" y="62508"/>
                </a:lnTo>
                <a:cubicBezTo>
                  <a:pt x="83005" y="62508"/>
                  <a:pt x="79281" y="58783"/>
                  <a:pt x="79281" y="54173"/>
                </a:cubicBezTo>
                <a:lnTo>
                  <a:pt x="79281" y="8334"/>
                </a:lnTo>
                <a:cubicBezTo>
                  <a:pt x="79281" y="3724"/>
                  <a:pt x="83031" y="-52"/>
                  <a:pt x="87589" y="547"/>
                </a:cubicBezTo>
                <a:cubicBezTo>
                  <a:pt x="115457" y="4245"/>
                  <a:pt x="137543" y="26331"/>
                  <a:pt x="141242" y="54199"/>
                </a:cubicBezTo>
                <a:cubicBezTo>
                  <a:pt x="141841" y="58757"/>
                  <a:pt x="138064" y="62508"/>
                  <a:pt x="133454" y="62508"/>
                </a:cubicBezTo>
                <a:close/>
                <a:moveTo>
                  <a:pt x="57976" y="9689"/>
                </a:moveTo>
                <a:cubicBezTo>
                  <a:pt x="62690" y="8699"/>
                  <a:pt x="66779" y="12554"/>
                  <a:pt x="66779" y="17372"/>
                </a:cubicBezTo>
                <a:lnTo>
                  <a:pt x="66779" y="68759"/>
                </a:lnTo>
                <a:cubicBezTo>
                  <a:pt x="66779" y="70217"/>
                  <a:pt x="67300" y="71624"/>
                  <a:pt x="68212" y="72743"/>
                </a:cubicBezTo>
                <a:lnTo>
                  <a:pt x="102617" y="114259"/>
                </a:lnTo>
                <a:cubicBezTo>
                  <a:pt x="105664" y="117931"/>
                  <a:pt x="105013" y="123479"/>
                  <a:pt x="100820" y="125745"/>
                </a:cubicBezTo>
                <a:cubicBezTo>
                  <a:pt x="91939" y="130589"/>
                  <a:pt x="81755" y="133350"/>
                  <a:pt x="70946" y="133350"/>
                </a:cubicBezTo>
                <a:cubicBezTo>
                  <a:pt x="36437" y="133350"/>
                  <a:pt x="8439" y="105352"/>
                  <a:pt x="8439" y="70842"/>
                </a:cubicBezTo>
                <a:cubicBezTo>
                  <a:pt x="8439" y="40760"/>
                  <a:pt x="29665" y="15653"/>
                  <a:pt x="57976" y="9689"/>
                </a:cubicBezTo>
                <a:close/>
                <a:moveTo>
                  <a:pt x="124443" y="75009"/>
                </a:moveTo>
                <a:lnTo>
                  <a:pt x="141111" y="75009"/>
                </a:lnTo>
                <a:cubicBezTo>
                  <a:pt x="145930" y="75009"/>
                  <a:pt x="149784" y="79098"/>
                  <a:pt x="148795" y="83813"/>
                </a:cubicBezTo>
                <a:cubicBezTo>
                  <a:pt x="146138" y="96418"/>
                  <a:pt x="139679" y="107618"/>
                  <a:pt x="130667" y="116160"/>
                </a:cubicBezTo>
                <a:cubicBezTo>
                  <a:pt x="127464" y="119208"/>
                  <a:pt x="122437" y="118556"/>
                  <a:pt x="119624" y="115145"/>
                </a:cubicBezTo>
                <a:lnTo>
                  <a:pt x="97642" y="88657"/>
                </a:lnTo>
                <a:cubicBezTo>
                  <a:pt x="93137" y="83214"/>
                  <a:pt x="97017" y="75009"/>
                  <a:pt x="104049" y="75009"/>
                </a:cubicBezTo>
                <a:lnTo>
                  <a:pt x="124417" y="75009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561388" y="41783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Aggregated Dashboards: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overview of all activity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54219" y="46736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561388" y="4635501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Generation: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analytics and exports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37550" y="49403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61388" y="4902201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Employers: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Companies with highest hire rates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45885" y="520700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561388" y="516890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Rates: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term, major, or demographic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37550" y="54737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561388" y="5435601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Funnel Metrics:</a:t>
            </a: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Application to interview to offer conversion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40" y="378340"/>
            <a:ext cx="1150153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kern="0" spc="52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340" y="643178"/>
            <a:ext cx="11605573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Architecture: Three-Tier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340" y="1135019"/>
            <a:ext cx="908016" cy="37834"/>
          </a:xfrm>
          <a:custGeom>
            <a:avLst/>
            <a:gdLst/>
            <a:ahLst/>
            <a:cxnLst/>
            <a:rect l="l" t="t" r="r" b="b"/>
            <a:pathLst>
              <a:path w="908016" h="37834">
                <a:moveTo>
                  <a:pt x="0" y="0"/>
                </a:moveTo>
                <a:lnTo>
                  <a:pt x="908016" y="0"/>
                </a:lnTo>
                <a:lnTo>
                  <a:pt x="908016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8340" y="1362023"/>
            <a:ext cx="7500587" cy="5495386"/>
          </a:xfrm>
          <a:custGeom>
            <a:avLst/>
            <a:gdLst/>
            <a:ahLst/>
            <a:cxnLst/>
            <a:rect l="l" t="t" r="r" b="b"/>
            <a:pathLst>
              <a:path w="7500587" h="5495386">
                <a:moveTo>
                  <a:pt x="75671" y="0"/>
                </a:moveTo>
                <a:lnTo>
                  <a:pt x="7424915" y="0"/>
                </a:lnTo>
                <a:cubicBezTo>
                  <a:pt x="7466679" y="0"/>
                  <a:pt x="7500587" y="33907"/>
                  <a:pt x="7500587" y="75671"/>
                </a:cubicBezTo>
                <a:lnTo>
                  <a:pt x="7500587" y="5419714"/>
                </a:lnTo>
                <a:cubicBezTo>
                  <a:pt x="7500587" y="5461478"/>
                  <a:pt x="7466679" y="5495386"/>
                  <a:pt x="7424915" y="5495386"/>
                </a:cubicBezTo>
                <a:lnTo>
                  <a:pt x="75671" y="5495386"/>
                </a:lnTo>
                <a:cubicBezTo>
                  <a:pt x="33907" y="5495386"/>
                  <a:pt x="0" y="5461478"/>
                  <a:pt x="0" y="5419714"/>
                </a:cubicBezTo>
                <a:lnTo>
                  <a:pt x="0" y="75671"/>
                </a:lnTo>
                <a:cubicBezTo>
                  <a:pt x="0" y="33907"/>
                  <a:pt x="33907" y="0"/>
                  <a:pt x="7567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75" dist="94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7510" y="1551193"/>
            <a:ext cx="1957908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41587" y="1626861"/>
            <a:ext cx="113502" cy="113502"/>
          </a:xfrm>
          <a:custGeom>
            <a:avLst/>
            <a:gdLst/>
            <a:ahLst/>
            <a:cxnLst/>
            <a:rect l="l" t="t" r="r" b="b"/>
            <a:pathLst>
              <a:path w="113502" h="113502">
                <a:moveTo>
                  <a:pt x="56751" y="0"/>
                </a:moveTo>
                <a:lnTo>
                  <a:pt x="56751" y="0"/>
                </a:lnTo>
                <a:cubicBezTo>
                  <a:pt x="88073" y="0"/>
                  <a:pt x="113502" y="25429"/>
                  <a:pt x="113502" y="56751"/>
                </a:cubicBezTo>
                <a:lnTo>
                  <a:pt x="113502" y="56751"/>
                </a:lnTo>
                <a:cubicBezTo>
                  <a:pt x="113502" y="88073"/>
                  <a:pt x="88073" y="113502"/>
                  <a:pt x="56751" y="113502"/>
                </a:cubicBezTo>
                <a:lnTo>
                  <a:pt x="56751" y="113502"/>
                </a:lnTo>
                <a:cubicBezTo>
                  <a:pt x="25429" y="113502"/>
                  <a:pt x="0" y="88073"/>
                  <a:pt x="0" y="56751"/>
                </a:cubicBezTo>
                <a:lnTo>
                  <a:pt x="0" y="56751"/>
                </a:lnTo>
                <a:cubicBezTo>
                  <a:pt x="0" y="25429"/>
                  <a:pt x="25429" y="0"/>
                  <a:pt x="56751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30757" y="1589027"/>
            <a:ext cx="775597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16501" y="1626861"/>
            <a:ext cx="113502" cy="113502"/>
          </a:xfrm>
          <a:custGeom>
            <a:avLst/>
            <a:gdLst/>
            <a:ahLst/>
            <a:cxnLst/>
            <a:rect l="l" t="t" r="r" b="b"/>
            <a:pathLst>
              <a:path w="113502" h="113502">
                <a:moveTo>
                  <a:pt x="56751" y="0"/>
                </a:moveTo>
                <a:lnTo>
                  <a:pt x="56751" y="0"/>
                </a:lnTo>
                <a:cubicBezTo>
                  <a:pt x="88073" y="0"/>
                  <a:pt x="113502" y="25429"/>
                  <a:pt x="113502" y="56751"/>
                </a:cubicBezTo>
                <a:lnTo>
                  <a:pt x="113502" y="56751"/>
                </a:lnTo>
                <a:cubicBezTo>
                  <a:pt x="113502" y="88073"/>
                  <a:pt x="88073" y="113502"/>
                  <a:pt x="56751" y="113502"/>
                </a:cubicBezTo>
                <a:lnTo>
                  <a:pt x="56751" y="113502"/>
                </a:lnTo>
                <a:cubicBezTo>
                  <a:pt x="25429" y="113502"/>
                  <a:pt x="0" y="88073"/>
                  <a:pt x="0" y="56751"/>
                </a:cubicBezTo>
                <a:lnTo>
                  <a:pt x="0" y="56751"/>
                </a:lnTo>
                <a:cubicBezTo>
                  <a:pt x="0" y="25429"/>
                  <a:pt x="25429" y="0"/>
                  <a:pt x="56751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5671" y="1589027"/>
            <a:ext cx="71884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0133" y="1626861"/>
            <a:ext cx="113502" cy="113502"/>
          </a:xfrm>
          <a:custGeom>
            <a:avLst/>
            <a:gdLst/>
            <a:ahLst/>
            <a:cxnLst/>
            <a:rect l="l" t="t" r="r" b="b"/>
            <a:pathLst>
              <a:path w="113502" h="113502">
                <a:moveTo>
                  <a:pt x="56751" y="0"/>
                </a:moveTo>
                <a:lnTo>
                  <a:pt x="56751" y="0"/>
                </a:lnTo>
                <a:cubicBezTo>
                  <a:pt x="88073" y="0"/>
                  <a:pt x="113502" y="25429"/>
                  <a:pt x="113502" y="56751"/>
                </a:cubicBezTo>
                <a:lnTo>
                  <a:pt x="113502" y="56751"/>
                </a:lnTo>
                <a:cubicBezTo>
                  <a:pt x="113502" y="88073"/>
                  <a:pt x="88073" y="113502"/>
                  <a:pt x="56751" y="113502"/>
                </a:cubicBezTo>
                <a:lnTo>
                  <a:pt x="56751" y="113502"/>
                </a:lnTo>
                <a:cubicBezTo>
                  <a:pt x="25429" y="113502"/>
                  <a:pt x="0" y="88073"/>
                  <a:pt x="0" y="56751"/>
                </a:cubicBezTo>
                <a:lnTo>
                  <a:pt x="0" y="56751"/>
                </a:lnTo>
                <a:cubicBezTo>
                  <a:pt x="0" y="25429"/>
                  <a:pt x="25429" y="0"/>
                  <a:pt x="56751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19303" y="1589027"/>
            <a:ext cx="331047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510" y="1967367"/>
            <a:ext cx="7122247" cy="1267438"/>
          </a:xfrm>
          <a:custGeom>
            <a:avLst/>
            <a:gdLst/>
            <a:ahLst/>
            <a:cxnLst/>
            <a:rect l="l" t="t" r="r" b="b"/>
            <a:pathLst>
              <a:path w="7122247" h="1267438">
                <a:moveTo>
                  <a:pt x="75666" y="0"/>
                </a:moveTo>
                <a:lnTo>
                  <a:pt x="7046581" y="0"/>
                </a:lnTo>
                <a:cubicBezTo>
                  <a:pt x="7088370" y="0"/>
                  <a:pt x="7122247" y="33877"/>
                  <a:pt x="7122247" y="75666"/>
                </a:cubicBezTo>
                <a:lnTo>
                  <a:pt x="7122247" y="1191772"/>
                </a:lnTo>
                <a:cubicBezTo>
                  <a:pt x="7122247" y="1233561"/>
                  <a:pt x="7088370" y="1267438"/>
                  <a:pt x="7046581" y="1267438"/>
                </a:cubicBezTo>
                <a:lnTo>
                  <a:pt x="75666" y="1267438"/>
                </a:lnTo>
                <a:cubicBezTo>
                  <a:pt x="33877" y="1267438"/>
                  <a:pt x="0" y="1233561"/>
                  <a:pt x="0" y="1191772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8846" y="2156537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75668" y="0"/>
                </a:moveTo>
                <a:lnTo>
                  <a:pt x="302672" y="0"/>
                </a:lnTo>
                <a:cubicBezTo>
                  <a:pt x="344434" y="0"/>
                  <a:pt x="378340" y="33906"/>
                  <a:pt x="378340" y="75668"/>
                </a:cubicBezTo>
                <a:lnTo>
                  <a:pt x="378340" y="302672"/>
                </a:lnTo>
                <a:cubicBezTo>
                  <a:pt x="378340" y="344434"/>
                  <a:pt x="344434" y="378340"/>
                  <a:pt x="302672" y="378340"/>
                </a:cubicBezTo>
                <a:lnTo>
                  <a:pt x="75668" y="378340"/>
                </a:lnTo>
                <a:cubicBezTo>
                  <a:pt x="33906" y="378340"/>
                  <a:pt x="0" y="344434"/>
                  <a:pt x="0" y="302672"/>
                </a:cubicBezTo>
                <a:lnTo>
                  <a:pt x="0" y="75668"/>
                </a:lnTo>
                <a:cubicBezTo>
                  <a:pt x="0" y="33906"/>
                  <a:pt x="33906" y="0"/>
                  <a:pt x="75668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5254" y="2260580"/>
            <a:ext cx="170253" cy="170253"/>
          </a:xfrm>
          <a:custGeom>
            <a:avLst/>
            <a:gdLst/>
            <a:ahLst/>
            <a:cxnLst/>
            <a:rect l="l" t="t" r="r" b="b"/>
            <a:pathLst>
              <a:path w="170253" h="170253">
                <a:moveTo>
                  <a:pt x="21282" y="10641"/>
                </a:moveTo>
                <a:cubicBezTo>
                  <a:pt x="9543" y="10641"/>
                  <a:pt x="0" y="20184"/>
                  <a:pt x="0" y="31922"/>
                </a:cubicBezTo>
                <a:lnTo>
                  <a:pt x="0" y="117049"/>
                </a:lnTo>
                <a:cubicBezTo>
                  <a:pt x="0" y="128787"/>
                  <a:pt x="9543" y="138330"/>
                  <a:pt x="21282" y="138330"/>
                </a:cubicBezTo>
                <a:lnTo>
                  <a:pt x="69165" y="138330"/>
                </a:lnTo>
                <a:lnTo>
                  <a:pt x="63845" y="154292"/>
                </a:lnTo>
                <a:lnTo>
                  <a:pt x="39903" y="154292"/>
                </a:lnTo>
                <a:cubicBezTo>
                  <a:pt x="35480" y="154292"/>
                  <a:pt x="31922" y="157850"/>
                  <a:pt x="31922" y="162272"/>
                </a:cubicBezTo>
                <a:cubicBezTo>
                  <a:pt x="31922" y="166695"/>
                  <a:pt x="35480" y="170253"/>
                  <a:pt x="39903" y="170253"/>
                </a:cubicBezTo>
                <a:lnTo>
                  <a:pt x="130350" y="170253"/>
                </a:lnTo>
                <a:cubicBezTo>
                  <a:pt x="134772" y="170253"/>
                  <a:pt x="138330" y="166695"/>
                  <a:pt x="138330" y="162272"/>
                </a:cubicBezTo>
                <a:cubicBezTo>
                  <a:pt x="138330" y="157850"/>
                  <a:pt x="134772" y="154292"/>
                  <a:pt x="130350" y="154292"/>
                </a:cubicBezTo>
                <a:lnTo>
                  <a:pt x="106408" y="154292"/>
                </a:lnTo>
                <a:lnTo>
                  <a:pt x="101088" y="138330"/>
                </a:lnTo>
                <a:lnTo>
                  <a:pt x="148971" y="138330"/>
                </a:lnTo>
                <a:cubicBezTo>
                  <a:pt x="160709" y="138330"/>
                  <a:pt x="170253" y="128787"/>
                  <a:pt x="170253" y="117049"/>
                </a:cubicBezTo>
                <a:lnTo>
                  <a:pt x="170253" y="31922"/>
                </a:lnTo>
                <a:cubicBezTo>
                  <a:pt x="170253" y="20184"/>
                  <a:pt x="160709" y="10641"/>
                  <a:pt x="148971" y="10641"/>
                </a:cubicBezTo>
                <a:lnTo>
                  <a:pt x="21282" y="10641"/>
                </a:lnTo>
                <a:close/>
                <a:moveTo>
                  <a:pt x="31922" y="31922"/>
                </a:moveTo>
                <a:lnTo>
                  <a:pt x="138330" y="31922"/>
                </a:lnTo>
                <a:cubicBezTo>
                  <a:pt x="144216" y="31922"/>
                  <a:pt x="148971" y="36678"/>
                  <a:pt x="148971" y="42563"/>
                </a:cubicBezTo>
                <a:lnTo>
                  <a:pt x="148971" y="95767"/>
                </a:lnTo>
                <a:cubicBezTo>
                  <a:pt x="148971" y="101653"/>
                  <a:pt x="144216" y="106408"/>
                  <a:pt x="138330" y="106408"/>
                </a:cubicBezTo>
                <a:lnTo>
                  <a:pt x="31922" y="106408"/>
                </a:lnTo>
                <a:cubicBezTo>
                  <a:pt x="26037" y="106408"/>
                  <a:pt x="21282" y="101653"/>
                  <a:pt x="21282" y="95767"/>
                </a:cubicBezTo>
                <a:lnTo>
                  <a:pt x="21282" y="42563"/>
                </a:lnTo>
                <a:cubicBezTo>
                  <a:pt x="21282" y="36678"/>
                  <a:pt x="26037" y="31922"/>
                  <a:pt x="31922" y="31922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0687" y="2118703"/>
            <a:ext cx="1362023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Tier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0687" y="2383541"/>
            <a:ext cx="134310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8846" y="2648379"/>
            <a:ext cx="6885784" cy="4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 err="1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r>
              <a:rPr lang="en-US" sz="104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where users interact with the system. Handles form inputs, displays dashboards, and presents reports.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41536" y="3343578"/>
            <a:ext cx="170253" cy="227004"/>
          </a:xfrm>
          <a:custGeom>
            <a:avLst/>
            <a:gdLst/>
            <a:ahLst/>
            <a:cxnLst/>
            <a:rect l="l" t="t" r="r" b="b"/>
            <a:pathLst>
              <a:path w="170253" h="227004">
                <a:moveTo>
                  <a:pt x="75106" y="222836"/>
                </a:moveTo>
                <a:cubicBezTo>
                  <a:pt x="80648" y="228378"/>
                  <a:pt x="89649" y="228378"/>
                  <a:pt x="95191" y="222836"/>
                </a:cubicBezTo>
                <a:lnTo>
                  <a:pt x="166130" y="151898"/>
                </a:lnTo>
                <a:cubicBezTo>
                  <a:pt x="171672" y="146355"/>
                  <a:pt x="171672" y="137355"/>
                  <a:pt x="166130" y="131813"/>
                </a:cubicBezTo>
                <a:cubicBezTo>
                  <a:pt x="160588" y="126271"/>
                  <a:pt x="151587" y="126271"/>
                  <a:pt x="146045" y="131813"/>
                </a:cubicBezTo>
                <a:lnTo>
                  <a:pt x="99314" y="178544"/>
                </a:lnTo>
                <a:lnTo>
                  <a:pt x="99314" y="14188"/>
                </a:lnTo>
                <a:cubicBezTo>
                  <a:pt x="99314" y="6340"/>
                  <a:pt x="92974" y="0"/>
                  <a:pt x="85126" y="0"/>
                </a:cubicBezTo>
                <a:cubicBezTo>
                  <a:pt x="77279" y="0"/>
                  <a:pt x="70939" y="6340"/>
                  <a:pt x="70939" y="14188"/>
                </a:cubicBezTo>
                <a:lnTo>
                  <a:pt x="70939" y="178544"/>
                </a:lnTo>
                <a:lnTo>
                  <a:pt x="24208" y="131813"/>
                </a:lnTo>
                <a:cubicBezTo>
                  <a:pt x="18666" y="126271"/>
                  <a:pt x="9665" y="126271"/>
                  <a:pt x="4123" y="131813"/>
                </a:cubicBezTo>
                <a:cubicBezTo>
                  <a:pt x="-1419" y="137355"/>
                  <a:pt x="-1419" y="146355"/>
                  <a:pt x="4123" y="151898"/>
                </a:cubicBezTo>
                <a:lnTo>
                  <a:pt x="75062" y="222836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7510" y="3684084"/>
            <a:ext cx="7122247" cy="1267438"/>
          </a:xfrm>
          <a:custGeom>
            <a:avLst/>
            <a:gdLst/>
            <a:ahLst/>
            <a:cxnLst/>
            <a:rect l="l" t="t" r="r" b="b"/>
            <a:pathLst>
              <a:path w="7122247" h="1267438">
                <a:moveTo>
                  <a:pt x="75666" y="0"/>
                </a:moveTo>
                <a:lnTo>
                  <a:pt x="7046581" y="0"/>
                </a:lnTo>
                <a:cubicBezTo>
                  <a:pt x="7088370" y="0"/>
                  <a:pt x="7122247" y="33877"/>
                  <a:pt x="7122247" y="75666"/>
                </a:cubicBezTo>
                <a:lnTo>
                  <a:pt x="7122247" y="1191772"/>
                </a:lnTo>
                <a:cubicBezTo>
                  <a:pt x="7122247" y="1233561"/>
                  <a:pt x="7088370" y="1267438"/>
                  <a:pt x="7046581" y="1267438"/>
                </a:cubicBezTo>
                <a:lnTo>
                  <a:pt x="75666" y="1267438"/>
                </a:lnTo>
                <a:cubicBezTo>
                  <a:pt x="33877" y="1267438"/>
                  <a:pt x="0" y="1233561"/>
                  <a:pt x="0" y="1191772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8846" y="3873254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75668" y="0"/>
                </a:moveTo>
                <a:lnTo>
                  <a:pt x="302672" y="0"/>
                </a:lnTo>
                <a:cubicBezTo>
                  <a:pt x="344434" y="0"/>
                  <a:pt x="378340" y="33906"/>
                  <a:pt x="378340" y="75668"/>
                </a:cubicBezTo>
                <a:lnTo>
                  <a:pt x="378340" y="302672"/>
                </a:lnTo>
                <a:cubicBezTo>
                  <a:pt x="378340" y="344434"/>
                  <a:pt x="344434" y="378340"/>
                  <a:pt x="302672" y="378340"/>
                </a:cubicBezTo>
                <a:lnTo>
                  <a:pt x="75668" y="378340"/>
                </a:lnTo>
                <a:cubicBezTo>
                  <a:pt x="33906" y="378340"/>
                  <a:pt x="0" y="344434"/>
                  <a:pt x="0" y="302672"/>
                </a:cubicBezTo>
                <a:lnTo>
                  <a:pt x="0" y="75668"/>
                </a:lnTo>
                <a:cubicBezTo>
                  <a:pt x="0" y="33906"/>
                  <a:pt x="33906" y="0"/>
                  <a:pt x="75668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3972" y="3977297"/>
            <a:ext cx="212816" cy="170253"/>
          </a:xfrm>
          <a:custGeom>
            <a:avLst/>
            <a:gdLst/>
            <a:ahLst/>
            <a:cxnLst/>
            <a:rect l="l" t="t" r="r" b="b"/>
            <a:pathLst>
              <a:path w="212816" h="170253">
                <a:moveTo>
                  <a:pt x="138297" y="69997"/>
                </a:moveTo>
                <a:cubicBezTo>
                  <a:pt x="142354" y="68899"/>
                  <a:pt x="146610" y="70828"/>
                  <a:pt x="148439" y="74585"/>
                </a:cubicBezTo>
                <a:lnTo>
                  <a:pt x="154624" y="87088"/>
                </a:lnTo>
                <a:cubicBezTo>
                  <a:pt x="158049" y="87554"/>
                  <a:pt x="161408" y="88485"/>
                  <a:pt x="164567" y="89782"/>
                </a:cubicBezTo>
                <a:lnTo>
                  <a:pt x="176205" y="82034"/>
                </a:lnTo>
                <a:cubicBezTo>
                  <a:pt x="179697" y="79706"/>
                  <a:pt x="184319" y="80172"/>
                  <a:pt x="187278" y="83131"/>
                </a:cubicBezTo>
                <a:lnTo>
                  <a:pt x="193663" y="89516"/>
                </a:lnTo>
                <a:cubicBezTo>
                  <a:pt x="196622" y="92475"/>
                  <a:pt x="197088" y="97131"/>
                  <a:pt x="194760" y="100589"/>
                </a:cubicBezTo>
                <a:lnTo>
                  <a:pt x="187012" y="112194"/>
                </a:lnTo>
                <a:cubicBezTo>
                  <a:pt x="187644" y="113757"/>
                  <a:pt x="188209" y="115386"/>
                  <a:pt x="188675" y="117082"/>
                </a:cubicBezTo>
                <a:cubicBezTo>
                  <a:pt x="189140" y="118778"/>
                  <a:pt x="189440" y="120441"/>
                  <a:pt x="189672" y="122137"/>
                </a:cubicBezTo>
                <a:lnTo>
                  <a:pt x="202209" y="128321"/>
                </a:lnTo>
                <a:cubicBezTo>
                  <a:pt x="205966" y="130184"/>
                  <a:pt x="207895" y="134440"/>
                  <a:pt x="206797" y="138463"/>
                </a:cubicBezTo>
                <a:lnTo>
                  <a:pt x="204470" y="147176"/>
                </a:lnTo>
                <a:cubicBezTo>
                  <a:pt x="203372" y="151199"/>
                  <a:pt x="199615" y="153926"/>
                  <a:pt x="195425" y="153660"/>
                </a:cubicBezTo>
                <a:lnTo>
                  <a:pt x="181459" y="152762"/>
                </a:lnTo>
                <a:cubicBezTo>
                  <a:pt x="179364" y="155456"/>
                  <a:pt x="176937" y="157949"/>
                  <a:pt x="174177" y="160078"/>
                </a:cubicBezTo>
                <a:lnTo>
                  <a:pt x="175075" y="174010"/>
                </a:lnTo>
                <a:cubicBezTo>
                  <a:pt x="175341" y="178200"/>
                  <a:pt x="172614" y="181991"/>
                  <a:pt x="168590" y="183055"/>
                </a:cubicBezTo>
                <a:lnTo>
                  <a:pt x="159878" y="185383"/>
                </a:lnTo>
                <a:cubicBezTo>
                  <a:pt x="155821" y="186480"/>
                  <a:pt x="151598" y="184551"/>
                  <a:pt x="149736" y="180794"/>
                </a:cubicBezTo>
                <a:lnTo>
                  <a:pt x="143551" y="168291"/>
                </a:lnTo>
                <a:cubicBezTo>
                  <a:pt x="140126" y="167825"/>
                  <a:pt x="136768" y="166894"/>
                  <a:pt x="133609" y="165598"/>
                </a:cubicBezTo>
                <a:lnTo>
                  <a:pt x="121970" y="173345"/>
                </a:lnTo>
                <a:cubicBezTo>
                  <a:pt x="118479" y="175673"/>
                  <a:pt x="113857" y="175208"/>
                  <a:pt x="110897" y="172248"/>
                </a:cubicBezTo>
                <a:lnTo>
                  <a:pt x="104513" y="165864"/>
                </a:lnTo>
                <a:cubicBezTo>
                  <a:pt x="101553" y="162904"/>
                  <a:pt x="101088" y="158282"/>
                  <a:pt x="103415" y="154790"/>
                </a:cubicBezTo>
                <a:lnTo>
                  <a:pt x="111163" y="143152"/>
                </a:lnTo>
                <a:cubicBezTo>
                  <a:pt x="110531" y="141589"/>
                  <a:pt x="109966" y="139960"/>
                  <a:pt x="109501" y="138264"/>
                </a:cubicBezTo>
                <a:cubicBezTo>
                  <a:pt x="109035" y="136568"/>
                  <a:pt x="108736" y="134872"/>
                  <a:pt x="108503" y="133210"/>
                </a:cubicBezTo>
                <a:lnTo>
                  <a:pt x="95967" y="127025"/>
                </a:lnTo>
                <a:cubicBezTo>
                  <a:pt x="92209" y="125162"/>
                  <a:pt x="90314" y="120906"/>
                  <a:pt x="91378" y="116883"/>
                </a:cubicBezTo>
                <a:lnTo>
                  <a:pt x="93706" y="108170"/>
                </a:lnTo>
                <a:cubicBezTo>
                  <a:pt x="94803" y="104147"/>
                  <a:pt x="98560" y="101420"/>
                  <a:pt x="102750" y="101686"/>
                </a:cubicBezTo>
                <a:lnTo>
                  <a:pt x="116683" y="102584"/>
                </a:lnTo>
                <a:cubicBezTo>
                  <a:pt x="118778" y="99891"/>
                  <a:pt x="121205" y="97397"/>
                  <a:pt x="123965" y="95268"/>
                </a:cubicBezTo>
                <a:lnTo>
                  <a:pt x="123068" y="81369"/>
                </a:lnTo>
                <a:cubicBezTo>
                  <a:pt x="122802" y="77179"/>
                  <a:pt x="125528" y="73388"/>
                  <a:pt x="129552" y="72324"/>
                </a:cubicBezTo>
                <a:lnTo>
                  <a:pt x="138264" y="69997"/>
                </a:lnTo>
                <a:close/>
                <a:moveTo>
                  <a:pt x="149104" y="113059"/>
                </a:moveTo>
                <a:cubicBezTo>
                  <a:pt x="141029" y="113068"/>
                  <a:pt x="134481" y="119631"/>
                  <a:pt x="134490" y="127706"/>
                </a:cubicBezTo>
                <a:cubicBezTo>
                  <a:pt x="134499" y="135781"/>
                  <a:pt x="141062" y="142330"/>
                  <a:pt x="149138" y="142321"/>
                </a:cubicBezTo>
                <a:cubicBezTo>
                  <a:pt x="157213" y="142312"/>
                  <a:pt x="163761" y="135748"/>
                  <a:pt x="163752" y="127673"/>
                </a:cubicBezTo>
                <a:cubicBezTo>
                  <a:pt x="163743" y="119598"/>
                  <a:pt x="157179" y="113049"/>
                  <a:pt x="149104" y="113059"/>
                </a:cubicBezTo>
                <a:close/>
                <a:moveTo>
                  <a:pt x="74785" y="-15130"/>
                </a:moveTo>
                <a:lnTo>
                  <a:pt x="83497" y="-12802"/>
                </a:lnTo>
                <a:cubicBezTo>
                  <a:pt x="87521" y="-11705"/>
                  <a:pt x="90247" y="-7914"/>
                  <a:pt x="89981" y="-3758"/>
                </a:cubicBezTo>
                <a:lnTo>
                  <a:pt x="89084" y="10142"/>
                </a:lnTo>
                <a:cubicBezTo>
                  <a:pt x="91843" y="12270"/>
                  <a:pt x="94271" y="14731"/>
                  <a:pt x="96366" y="17458"/>
                </a:cubicBezTo>
                <a:lnTo>
                  <a:pt x="110332" y="16560"/>
                </a:lnTo>
                <a:cubicBezTo>
                  <a:pt x="114488" y="16294"/>
                  <a:pt x="118279" y="19020"/>
                  <a:pt x="119377" y="23044"/>
                </a:cubicBezTo>
                <a:lnTo>
                  <a:pt x="121704" y="31756"/>
                </a:lnTo>
                <a:cubicBezTo>
                  <a:pt x="122768" y="35780"/>
                  <a:pt x="120873" y="40036"/>
                  <a:pt x="117115" y="41898"/>
                </a:cubicBezTo>
                <a:lnTo>
                  <a:pt x="104579" y="48083"/>
                </a:lnTo>
                <a:cubicBezTo>
                  <a:pt x="104346" y="49779"/>
                  <a:pt x="104014" y="51475"/>
                  <a:pt x="103582" y="53138"/>
                </a:cubicBezTo>
                <a:cubicBezTo>
                  <a:pt x="103149" y="54800"/>
                  <a:pt x="102551" y="56463"/>
                  <a:pt x="101919" y="58026"/>
                </a:cubicBezTo>
                <a:lnTo>
                  <a:pt x="109667" y="69664"/>
                </a:lnTo>
                <a:cubicBezTo>
                  <a:pt x="111994" y="73156"/>
                  <a:pt x="111529" y="77778"/>
                  <a:pt x="108569" y="80737"/>
                </a:cubicBezTo>
                <a:lnTo>
                  <a:pt x="102185" y="87122"/>
                </a:lnTo>
                <a:cubicBezTo>
                  <a:pt x="99226" y="90081"/>
                  <a:pt x="94603" y="90547"/>
                  <a:pt x="91112" y="88219"/>
                </a:cubicBezTo>
                <a:lnTo>
                  <a:pt x="79474" y="80471"/>
                </a:lnTo>
                <a:cubicBezTo>
                  <a:pt x="76315" y="81768"/>
                  <a:pt x="72956" y="82699"/>
                  <a:pt x="69531" y="83165"/>
                </a:cubicBezTo>
                <a:lnTo>
                  <a:pt x="63346" y="95668"/>
                </a:lnTo>
                <a:cubicBezTo>
                  <a:pt x="61484" y="99425"/>
                  <a:pt x="57228" y="101320"/>
                  <a:pt x="53204" y="100256"/>
                </a:cubicBezTo>
                <a:lnTo>
                  <a:pt x="44492" y="97929"/>
                </a:lnTo>
                <a:cubicBezTo>
                  <a:pt x="40435" y="96831"/>
                  <a:pt x="37742" y="93041"/>
                  <a:pt x="38008" y="88884"/>
                </a:cubicBezTo>
                <a:lnTo>
                  <a:pt x="38905" y="74951"/>
                </a:lnTo>
                <a:cubicBezTo>
                  <a:pt x="36145" y="72823"/>
                  <a:pt x="33718" y="70362"/>
                  <a:pt x="31623" y="67636"/>
                </a:cubicBezTo>
                <a:lnTo>
                  <a:pt x="17657" y="68533"/>
                </a:lnTo>
                <a:cubicBezTo>
                  <a:pt x="13501" y="68799"/>
                  <a:pt x="9710" y="66073"/>
                  <a:pt x="8612" y="62049"/>
                </a:cubicBezTo>
                <a:lnTo>
                  <a:pt x="6285" y="53337"/>
                </a:lnTo>
                <a:cubicBezTo>
                  <a:pt x="5221" y="49313"/>
                  <a:pt x="7116" y="45057"/>
                  <a:pt x="10874" y="43195"/>
                </a:cubicBezTo>
                <a:lnTo>
                  <a:pt x="23410" y="37010"/>
                </a:lnTo>
                <a:cubicBezTo>
                  <a:pt x="23643" y="35314"/>
                  <a:pt x="23975" y="33652"/>
                  <a:pt x="24407" y="31956"/>
                </a:cubicBezTo>
                <a:cubicBezTo>
                  <a:pt x="24873" y="30260"/>
                  <a:pt x="25405" y="28630"/>
                  <a:pt x="26070" y="27068"/>
                </a:cubicBezTo>
                <a:lnTo>
                  <a:pt x="18322" y="15462"/>
                </a:lnTo>
                <a:cubicBezTo>
                  <a:pt x="15994" y="11971"/>
                  <a:pt x="16460" y="7349"/>
                  <a:pt x="19419" y="4389"/>
                </a:cubicBezTo>
                <a:lnTo>
                  <a:pt x="25804" y="-1995"/>
                </a:lnTo>
                <a:cubicBezTo>
                  <a:pt x="28763" y="-4955"/>
                  <a:pt x="33386" y="-5420"/>
                  <a:pt x="36877" y="-3092"/>
                </a:cubicBezTo>
                <a:lnTo>
                  <a:pt x="48515" y="4655"/>
                </a:lnTo>
                <a:cubicBezTo>
                  <a:pt x="51674" y="3359"/>
                  <a:pt x="55033" y="2427"/>
                  <a:pt x="58458" y="1962"/>
                </a:cubicBezTo>
                <a:lnTo>
                  <a:pt x="64643" y="-10541"/>
                </a:lnTo>
                <a:cubicBezTo>
                  <a:pt x="66505" y="-14299"/>
                  <a:pt x="70728" y="-16194"/>
                  <a:pt x="74785" y="-15130"/>
                </a:cubicBezTo>
                <a:close/>
                <a:moveTo>
                  <a:pt x="63978" y="27932"/>
                </a:moveTo>
                <a:cubicBezTo>
                  <a:pt x="55903" y="27932"/>
                  <a:pt x="49347" y="34488"/>
                  <a:pt x="49347" y="42563"/>
                </a:cubicBezTo>
                <a:cubicBezTo>
                  <a:pt x="49347" y="50638"/>
                  <a:pt x="55903" y="57194"/>
                  <a:pt x="63978" y="57194"/>
                </a:cubicBezTo>
                <a:cubicBezTo>
                  <a:pt x="72053" y="57194"/>
                  <a:pt x="78609" y="50638"/>
                  <a:pt x="78609" y="42563"/>
                </a:cubicBezTo>
                <a:cubicBezTo>
                  <a:pt x="78609" y="34488"/>
                  <a:pt x="72053" y="27932"/>
                  <a:pt x="63978" y="27932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10687" y="3835420"/>
            <a:ext cx="1267438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0687" y="4100258"/>
            <a:ext cx="1248521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8846" y="4365095"/>
            <a:ext cx="6885784" cy="4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Python-based logic for data validation, business rules, calculations, and coordinating interactions between presentation and data tiers.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41536" y="5060295"/>
            <a:ext cx="170253" cy="227004"/>
          </a:xfrm>
          <a:custGeom>
            <a:avLst/>
            <a:gdLst/>
            <a:ahLst/>
            <a:cxnLst/>
            <a:rect l="l" t="t" r="r" b="b"/>
            <a:pathLst>
              <a:path w="170253" h="227004">
                <a:moveTo>
                  <a:pt x="75106" y="222836"/>
                </a:moveTo>
                <a:cubicBezTo>
                  <a:pt x="80648" y="228378"/>
                  <a:pt x="89649" y="228378"/>
                  <a:pt x="95191" y="222836"/>
                </a:cubicBezTo>
                <a:lnTo>
                  <a:pt x="166130" y="151898"/>
                </a:lnTo>
                <a:cubicBezTo>
                  <a:pt x="171672" y="146355"/>
                  <a:pt x="171672" y="137355"/>
                  <a:pt x="166130" y="131813"/>
                </a:cubicBezTo>
                <a:cubicBezTo>
                  <a:pt x="160588" y="126271"/>
                  <a:pt x="151587" y="126271"/>
                  <a:pt x="146045" y="131813"/>
                </a:cubicBezTo>
                <a:lnTo>
                  <a:pt x="99314" y="178544"/>
                </a:lnTo>
                <a:lnTo>
                  <a:pt x="99314" y="14188"/>
                </a:lnTo>
                <a:cubicBezTo>
                  <a:pt x="99314" y="6340"/>
                  <a:pt x="92974" y="0"/>
                  <a:pt x="85126" y="0"/>
                </a:cubicBezTo>
                <a:cubicBezTo>
                  <a:pt x="77279" y="0"/>
                  <a:pt x="70939" y="6340"/>
                  <a:pt x="70939" y="14188"/>
                </a:cubicBezTo>
                <a:lnTo>
                  <a:pt x="70939" y="178544"/>
                </a:lnTo>
                <a:lnTo>
                  <a:pt x="24208" y="131813"/>
                </a:lnTo>
                <a:cubicBezTo>
                  <a:pt x="18666" y="126271"/>
                  <a:pt x="9665" y="126271"/>
                  <a:pt x="4123" y="131813"/>
                </a:cubicBezTo>
                <a:cubicBezTo>
                  <a:pt x="-1419" y="137355"/>
                  <a:pt x="-1419" y="146355"/>
                  <a:pt x="4123" y="151898"/>
                </a:cubicBezTo>
                <a:lnTo>
                  <a:pt x="75062" y="222836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7510" y="5400801"/>
            <a:ext cx="7122247" cy="1267438"/>
          </a:xfrm>
          <a:custGeom>
            <a:avLst/>
            <a:gdLst/>
            <a:ahLst/>
            <a:cxnLst/>
            <a:rect l="l" t="t" r="r" b="b"/>
            <a:pathLst>
              <a:path w="7122247" h="1267438">
                <a:moveTo>
                  <a:pt x="75666" y="0"/>
                </a:moveTo>
                <a:lnTo>
                  <a:pt x="7046581" y="0"/>
                </a:lnTo>
                <a:cubicBezTo>
                  <a:pt x="7088370" y="0"/>
                  <a:pt x="7122247" y="33877"/>
                  <a:pt x="7122247" y="75666"/>
                </a:cubicBezTo>
                <a:lnTo>
                  <a:pt x="7122247" y="1191772"/>
                </a:lnTo>
                <a:cubicBezTo>
                  <a:pt x="7122247" y="1233561"/>
                  <a:pt x="7088370" y="1267438"/>
                  <a:pt x="7046581" y="1267438"/>
                </a:cubicBezTo>
                <a:lnTo>
                  <a:pt x="75666" y="1267438"/>
                </a:lnTo>
                <a:cubicBezTo>
                  <a:pt x="33877" y="1267438"/>
                  <a:pt x="0" y="1233561"/>
                  <a:pt x="0" y="1191772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8846" y="5589971"/>
            <a:ext cx="378340" cy="378340"/>
          </a:xfrm>
          <a:custGeom>
            <a:avLst/>
            <a:gdLst/>
            <a:ahLst/>
            <a:cxnLst/>
            <a:rect l="l" t="t" r="r" b="b"/>
            <a:pathLst>
              <a:path w="378340" h="378340">
                <a:moveTo>
                  <a:pt x="75668" y="0"/>
                </a:moveTo>
                <a:lnTo>
                  <a:pt x="302672" y="0"/>
                </a:lnTo>
                <a:cubicBezTo>
                  <a:pt x="344434" y="0"/>
                  <a:pt x="378340" y="33906"/>
                  <a:pt x="378340" y="75668"/>
                </a:cubicBezTo>
                <a:lnTo>
                  <a:pt x="378340" y="302672"/>
                </a:lnTo>
                <a:cubicBezTo>
                  <a:pt x="378340" y="344434"/>
                  <a:pt x="344434" y="378340"/>
                  <a:pt x="302672" y="378340"/>
                </a:cubicBezTo>
                <a:lnTo>
                  <a:pt x="75668" y="378340"/>
                </a:lnTo>
                <a:cubicBezTo>
                  <a:pt x="33906" y="378340"/>
                  <a:pt x="0" y="344434"/>
                  <a:pt x="0" y="302672"/>
                </a:cubicBezTo>
                <a:lnTo>
                  <a:pt x="0" y="75668"/>
                </a:lnTo>
                <a:cubicBezTo>
                  <a:pt x="0" y="33906"/>
                  <a:pt x="33906" y="0"/>
                  <a:pt x="75668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5894" y="5694014"/>
            <a:ext cx="148971" cy="170253"/>
          </a:xfrm>
          <a:custGeom>
            <a:avLst/>
            <a:gdLst/>
            <a:ahLst/>
            <a:cxnLst/>
            <a:rect l="l" t="t" r="r" b="b"/>
            <a:pathLst>
              <a:path w="148971" h="170253">
                <a:moveTo>
                  <a:pt x="148971" y="68434"/>
                </a:moveTo>
                <a:cubicBezTo>
                  <a:pt x="144050" y="71692"/>
                  <a:pt x="138397" y="74319"/>
                  <a:pt x="132511" y="76414"/>
                </a:cubicBezTo>
                <a:cubicBezTo>
                  <a:pt x="116883" y="82001"/>
                  <a:pt x="96366" y="85126"/>
                  <a:pt x="74486" y="85126"/>
                </a:cubicBezTo>
                <a:cubicBezTo>
                  <a:pt x="52605" y="85126"/>
                  <a:pt x="32055" y="81967"/>
                  <a:pt x="16460" y="76414"/>
                </a:cubicBezTo>
                <a:cubicBezTo>
                  <a:pt x="10608" y="74319"/>
                  <a:pt x="4921" y="71692"/>
                  <a:pt x="0" y="68434"/>
                </a:cubicBezTo>
                <a:lnTo>
                  <a:pt x="0" y="95767"/>
                </a:lnTo>
                <a:cubicBezTo>
                  <a:pt x="0" y="110465"/>
                  <a:pt x="33352" y="122369"/>
                  <a:pt x="74486" y="122369"/>
                </a:cubicBezTo>
                <a:cubicBezTo>
                  <a:pt x="115619" y="122369"/>
                  <a:pt x="148971" y="110465"/>
                  <a:pt x="148971" y="95767"/>
                </a:cubicBezTo>
                <a:lnTo>
                  <a:pt x="148971" y="68434"/>
                </a:lnTo>
                <a:close/>
                <a:moveTo>
                  <a:pt x="148971" y="42563"/>
                </a:moveTo>
                <a:lnTo>
                  <a:pt x="148971" y="26602"/>
                </a:lnTo>
                <a:cubicBezTo>
                  <a:pt x="148971" y="11904"/>
                  <a:pt x="115619" y="0"/>
                  <a:pt x="74486" y="0"/>
                </a:cubicBezTo>
                <a:cubicBezTo>
                  <a:pt x="33352" y="0"/>
                  <a:pt x="0" y="11904"/>
                  <a:pt x="0" y="26602"/>
                </a:cubicBezTo>
                <a:lnTo>
                  <a:pt x="0" y="42563"/>
                </a:lnTo>
                <a:cubicBezTo>
                  <a:pt x="0" y="57261"/>
                  <a:pt x="33352" y="69165"/>
                  <a:pt x="74486" y="69165"/>
                </a:cubicBezTo>
                <a:cubicBezTo>
                  <a:pt x="115619" y="69165"/>
                  <a:pt x="148971" y="57261"/>
                  <a:pt x="148971" y="42563"/>
                </a:cubicBezTo>
                <a:close/>
                <a:moveTo>
                  <a:pt x="132511" y="129618"/>
                </a:moveTo>
                <a:cubicBezTo>
                  <a:pt x="116916" y="135171"/>
                  <a:pt x="96399" y="138330"/>
                  <a:pt x="74486" y="138330"/>
                </a:cubicBezTo>
                <a:cubicBezTo>
                  <a:pt x="52572" y="138330"/>
                  <a:pt x="32055" y="135171"/>
                  <a:pt x="16460" y="129618"/>
                </a:cubicBezTo>
                <a:cubicBezTo>
                  <a:pt x="10608" y="127523"/>
                  <a:pt x="4921" y="124896"/>
                  <a:pt x="0" y="121638"/>
                </a:cubicBezTo>
                <a:lnTo>
                  <a:pt x="0" y="143651"/>
                </a:lnTo>
                <a:cubicBezTo>
                  <a:pt x="0" y="158349"/>
                  <a:pt x="33352" y="170253"/>
                  <a:pt x="74486" y="170253"/>
                </a:cubicBezTo>
                <a:cubicBezTo>
                  <a:pt x="115619" y="170253"/>
                  <a:pt x="148971" y="158349"/>
                  <a:pt x="148971" y="143651"/>
                </a:cubicBezTo>
                <a:lnTo>
                  <a:pt x="148971" y="121638"/>
                </a:lnTo>
                <a:cubicBezTo>
                  <a:pt x="144050" y="124896"/>
                  <a:pt x="138397" y="127523"/>
                  <a:pt x="132511" y="129618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10687" y="5552137"/>
            <a:ext cx="964766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0687" y="5816974"/>
            <a:ext cx="94584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8846" y="6081812"/>
            <a:ext cx="6885784" cy="4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database for secure storage and management of student profiles, applications, employer data, and system records.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64254" y="1362023"/>
            <a:ext cx="3745564" cy="4388742"/>
          </a:xfrm>
          <a:custGeom>
            <a:avLst/>
            <a:gdLst/>
            <a:ahLst/>
            <a:cxnLst/>
            <a:rect l="l" t="t" r="r" b="b"/>
            <a:pathLst>
              <a:path w="3745564" h="4388742">
                <a:moveTo>
                  <a:pt x="75660" y="0"/>
                </a:moveTo>
                <a:lnTo>
                  <a:pt x="3669904" y="0"/>
                </a:lnTo>
                <a:cubicBezTo>
                  <a:pt x="3711690" y="0"/>
                  <a:pt x="3745564" y="33874"/>
                  <a:pt x="3745564" y="75660"/>
                </a:cubicBezTo>
                <a:lnTo>
                  <a:pt x="3745564" y="4313081"/>
                </a:lnTo>
                <a:cubicBezTo>
                  <a:pt x="3745564" y="4354867"/>
                  <a:pt x="3711690" y="4388742"/>
                  <a:pt x="3669904" y="4388742"/>
                </a:cubicBezTo>
                <a:lnTo>
                  <a:pt x="75660" y="4388742"/>
                </a:lnTo>
                <a:cubicBezTo>
                  <a:pt x="33874" y="4388742"/>
                  <a:pt x="0" y="4354867"/>
                  <a:pt x="0" y="4313081"/>
                </a:cubicBezTo>
                <a:lnTo>
                  <a:pt x="0" y="75660"/>
                </a:lnTo>
                <a:cubicBezTo>
                  <a:pt x="0" y="33902"/>
                  <a:pt x="33902" y="0"/>
                  <a:pt x="756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75" dist="94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66429" y="1598486"/>
            <a:ext cx="191535" cy="170253"/>
          </a:xfrm>
          <a:custGeom>
            <a:avLst/>
            <a:gdLst/>
            <a:ahLst/>
            <a:cxnLst/>
            <a:rect l="l" t="t" r="r" b="b"/>
            <a:pathLst>
              <a:path w="191535" h="170253">
                <a:moveTo>
                  <a:pt x="102917" y="-6285"/>
                </a:moveTo>
                <a:cubicBezTo>
                  <a:pt x="101553" y="-8945"/>
                  <a:pt x="98793" y="-10641"/>
                  <a:pt x="95801" y="-10641"/>
                </a:cubicBezTo>
                <a:cubicBezTo>
                  <a:pt x="92808" y="-10641"/>
                  <a:pt x="90048" y="-8945"/>
                  <a:pt x="88684" y="-6285"/>
                </a:cubicBezTo>
                <a:lnTo>
                  <a:pt x="64211" y="41665"/>
                </a:lnTo>
                <a:lnTo>
                  <a:pt x="11040" y="50112"/>
                </a:lnTo>
                <a:cubicBezTo>
                  <a:pt x="8080" y="50577"/>
                  <a:pt x="5620" y="52672"/>
                  <a:pt x="4689" y="55532"/>
                </a:cubicBezTo>
                <a:cubicBezTo>
                  <a:pt x="3758" y="58391"/>
                  <a:pt x="4522" y="61517"/>
                  <a:pt x="6617" y="63645"/>
                </a:cubicBezTo>
                <a:lnTo>
                  <a:pt x="44658" y="101719"/>
                </a:lnTo>
                <a:lnTo>
                  <a:pt x="36279" y="154890"/>
                </a:lnTo>
                <a:cubicBezTo>
                  <a:pt x="35813" y="157850"/>
                  <a:pt x="37043" y="160842"/>
                  <a:pt x="39471" y="162605"/>
                </a:cubicBezTo>
                <a:cubicBezTo>
                  <a:pt x="41898" y="164367"/>
                  <a:pt x="45090" y="164633"/>
                  <a:pt x="47784" y="163270"/>
                </a:cubicBezTo>
                <a:lnTo>
                  <a:pt x="95801" y="138863"/>
                </a:lnTo>
                <a:lnTo>
                  <a:pt x="143784" y="163270"/>
                </a:lnTo>
                <a:cubicBezTo>
                  <a:pt x="146444" y="164633"/>
                  <a:pt x="149670" y="164367"/>
                  <a:pt x="152097" y="162605"/>
                </a:cubicBezTo>
                <a:cubicBezTo>
                  <a:pt x="154524" y="160842"/>
                  <a:pt x="155755" y="157883"/>
                  <a:pt x="155289" y="154890"/>
                </a:cubicBezTo>
                <a:lnTo>
                  <a:pt x="146876" y="101719"/>
                </a:lnTo>
                <a:lnTo>
                  <a:pt x="184917" y="63645"/>
                </a:lnTo>
                <a:cubicBezTo>
                  <a:pt x="187045" y="61517"/>
                  <a:pt x="187777" y="58391"/>
                  <a:pt x="186846" y="55532"/>
                </a:cubicBezTo>
                <a:cubicBezTo>
                  <a:pt x="185915" y="52672"/>
                  <a:pt x="183487" y="50577"/>
                  <a:pt x="180495" y="50112"/>
                </a:cubicBezTo>
                <a:lnTo>
                  <a:pt x="127357" y="41665"/>
                </a:lnTo>
                <a:lnTo>
                  <a:pt x="102917" y="-6285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70969" y="1551193"/>
            <a:ext cx="3234805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72341" y="1967367"/>
            <a:ext cx="37834" cy="643178"/>
          </a:xfrm>
          <a:custGeom>
            <a:avLst/>
            <a:gdLst/>
            <a:ahLst/>
            <a:cxnLst/>
            <a:rect l="l" t="t" r="r" b="b"/>
            <a:pathLst>
              <a:path w="37834" h="643178">
                <a:moveTo>
                  <a:pt x="0" y="0"/>
                </a:moveTo>
                <a:lnTo>
                  <a:pt x="37834" y="0"/>
                </a:lnTo>
                <a:lnTo>
                  <a:pt x="37834" y="643178"/>
                </a:lnTo>
                <a:lnTo>
                  <a:pt x="0" y="643178"/>
                </a:lnTo>
                <a:lnTo>
                  <a:pt x="0" y="0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04760" y="1967367"/>
            <a:ext cx="3291556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Scalability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04760" y="2232205"/>
            <a:ext cx="328209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tier functions independently, allowing targeted scaling without affecting the entire system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2341" y="2724047"/>
            <a:ext cx="37834" cy="643178"/>
          </a:xfrm>
          <a:custGeom>
            <a:avLst/>
            <a:gdLst/>
            <a:ahLst/>
            <a:cxnLst/>
            <a:rect l="l" t="t" r="r" b="b"/>
            <a:pathLst>
              <a:path w="37834" h="643178">
                <a:moveTo>
                  <a:pt x="0" y="0"/>
                </a:moveTo>
                <a:lnTo>
                  <a:pt x="37834" y="0"/>
                </a:lnTo>
                <a:lnTo>
                  <a:pt x="37834" y="643178"/>
                </a:lnTo>
                <a:lnTo>
                  <a:pt x="0" y="643178"/>
                </a:lnTo>
                <a:lnTo>
                  <a:pt x="0" y="0"/>
                </a:ln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04760" y="2724047"/>
            <a:ext cx="3291556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Security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04760" y="2988884"/>
            <a:ext cx="328209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separation enables multiple security measures; presentation cannot directly access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72341" y="3480726"/>
            <a:ext cx="37834" cy="643178"/>
          </a:xfrm>
          <a:custGeom>
            <a:avLst/>
            <a:gdLst/>
            <a:ahLst/>
            <a:cxnLst/>
            <a:rect l="l" t="t" r="r" b="b"/>
            <a:pathLst>
              <a:path w="37834" h="643178">
                <a:moveTo>
                  <a:pt x="0" y="0"/>
                </a:moveTo>
                <a:lnTo>
                  <a:pt x="37834" y="0"/>
                </a:lnTo>
                <a:lnTo>
                  <a:pt x="37834" y="643178"/>
                </a:lnTo>
                <a:lnTo>
                  <a:pt x="0" y="643178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04760" y="3480726"/>
            <a:ext cx="3291556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Development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04760" y="3745564"/>
            <a:ext cx="328209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structure allows parallel development, reducing time-to-market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2341" y="4237406"/>
            <a:ext cx="37834" cy="643178"/>
          </a:xfrm>
          <a:custGeom>
            <a:avLst/>
            <a:gdLst/>
            <a:ahLst/>
            <a:cxnLst/>
            <a:rect l="l" t="t" r="r" b="b"/>
            <a:pathLst>
              <a:path w="37834" h="643178">
                <a:moveTo>
                  <a:pt x="0" y="0"/>
                </a:moveTo>
                <a:lnTo>
                  <a:pt x="37834" y="0"/>
                </a:lnTo>
                <a:lnTo>
                  <a:pt x="37834" y="643178"/>
                </a:lnTo>
                <a:lnTo>
                  <a:pt x="0" y="643178"/>
                </a:lnTo>
                <a:lnTo>
                  <a:pt x="0" y="0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04760" y="4237406"/>
            <a:ext cx="3291556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Maintenance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04760" y="4502244"/>
            <a:ext cx="328209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Updates to one tier don't impact others, simplifying debugging and upgrades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64254" y="5904465"/>
            <a:ext cx="3745564" cy="945849"/>
          </a:xfrm>
          <a:custGeom>
            <a:avLst/>
            <a:gdLst/>
            <a:ahLst/>
            <a:cxnLst/>
            <a:rect l="l" t="t" r="r" b="b"/>
            <a:pathLst>
              <a:path w="3745564" h="945849">
                <a:moveTo>
                  <a:pt x="75668" y="0"/>
                </a:moveTo>
                <a:lnTo>
                  <a:pt x="3669896" y="0"/>
                </a:lnTo>
                <a:cubicBezTo>
                  <a:pt x="3711686" y="0"/>
                  <a:pt x="3745564" y="33878"/>
                  <a:pt x="3745564" y="75668"/>
                </a:cubicBezTo>
                <a:lnTo>
                  <a:pt x="3745564" y="870182"/>
                </a:lnTo>
                <a:cubicBezTo>
                  <a:pt x="3745564" y="911944"/>
                  <a:pt x="3711658" y="945849"/>
                  <a:pt x="3669896" y="945849"/>
                </a:cubicBezTo>
                <a:lnTo>
                  <a:pt x="75668" y="945849"/>
                </a:lnTo>
                <a:cubicBezTo>
                  <a:pt x="33878" y="945849"/>
                  <a:pt x="0" y="911972"/>
                  <a:pt x="0" y="870182"/>
                </a:cubicBezTo>
                <a:lnTo>
                  <a:pt x="0" y="75668"/>
                </a:lnTo>
                <a:cubicBezTo>
                  <a:pt x="0" y="33906"/>
                  <a:pt x="33906" y="0"/>
                  <a:pt x="7566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234507" y="6093635"/>
            <a:ext cx="132419" cy="132419"/>
          </a:xfrm>
          <a:custGeom>
            <a:avLst/>
            <a:gdLst/>
            <a:ahLst/>
            <a:cxnLst/>
            <a:rect l="l" t="t" r="r" b="b"/>
            <a:pathLst>
              <a:path w="132419" h="132419">
                <a:moveTo>
                  <a:pt x="66209" y="132419"/>
                </a:moveTo>
                <a:cubicBezTo>
                  <a:pt x="102751" y="132419"/>
                  <a:pt x="132419" y="102751"/>
                  <a:pt x="132419" y="66209"/>
                </a:cubicBezTo>
                <a:cubicBezTo>
                  <a:pt x="132419" y="29667"/>
                  <a:pt x="102751" y="0"/>
                  <a:pt x="66209" y="0"/>
                </a:cubicBezTo>
                <a:cubicBezTo>
                  <a:pt x="29667" y="0"/>
                  <a:pt x="0" y="29667"/>
                  <a:pt x="0" y="66209"/>
                </a:cubicBezTo>
                <a:cubicBezTo>
                  <a:pt x="0" y="102751"/>
                  <a:pt x="29667" y="132419"/>
                  <a:pt x="66209" y="132419"/>
                </a:cubicBezTo>
                <a:close/>
                <a:moveTo>
                  <a:pt x="57933" y="41381"/>
                </a:moveTo>
                <a:cubicBezTo>
                  <a:pt x="57933" y="36813"/>
                  <a:pt x="61642" y="33105"/>
                  <a:pt x="66209" y="33105"/>
                </a:cubicBezTo>
                <a:cubicBezTo>
                  <a:pt x="70777" y="33105"/>
                  <a:pt x="74486" y="36813"/>
                  <a:pt x="74486" y="41381"/>
                </a:cubicBezTo>
                <a:cubicBezTo>
                  <a:pt x="74486" y="45949"/>
                  <a:pt x="70777" y="49657"/>
                  <a:pt x="66209" y="49657"/>
                </a:cubicBezTo>
                <a:cubicBezTo>
                  <a:pt x="61642" y="49657"/>
                  <a:pt x="57933" y="45949"/>
                  <a:pt x="57933" y="41381"/>
                </a:cubicBezTo>
                <a:close/>
                <a:moveTo>
                  <a:pt x="55864" y="57933"/>
                </a:moveTo>
                <a:lnTo>
                  <a:pt x="68279" y="57933"/>
                </a:lnTo>
                <a:cubicBezTo>
                  <a:pt x="71718" y="57933"/>
                  <a:pt x="74486" y="60701"/>
                  <a:pt x="74486" y="64140"/>
                </a:cubicBezTo>
                <a:lnTo>
                  <a:pt x="74486" y="86900"/>
                </a:lnTo>
                <a:lnTo>
                  <a:pt x="76555" y="86900"/>
                </a:lnTo>
                <a:cubicBezTo>
                  <a:pt x="79994" y="86900"/>
                  <a:pt x="82762" y="89667"/>
                  <a:pt x="82762" y="93107"/>
                </a:cubicBezTo>
                <a:cubicBezTo>
                  <a:pt x="82762" y="96547"/>
                  <a:pt x="79994" y="99314"/>
                  <a:pt x="76555" y="99314"/>
                </a:cubicBezTo>
                <a:lnTo>
                  <a:pt x="55864" y="99314"/>
                </a:lnTo>
                <a:cubicBezTo>
                  <a:pt x="52424" y="99314"/>
                  <a:pt x="49657" y="96547"/>
                  <a:pt x="49657" y="93107"/>
                </a:cubicBezTo>
                <a:cubicBezTo>
                  <a:pt x="49657" y="89667"/>
                  <a:pt x="52424" y="86900"/>
                  <a:pt x="55864" y="86900"/>
                </a:cubicBezTo>
                <a:lnTo>
                  <a:pt x="62071" y="86900"/>
                </a:lnTo>
                <a:lnTo>
                  <a:pt x="62071" y="70348"/>
                </a:lnTo>
                <a:lnTo>
                  <a:pt x="55864" y="70348"/>
                </a:lnTo>
                <a:cubicBezTo>
                  <a:pt x="52424" y="70348"/>
                  <a:pt x="49657" y="67580"/>
                  <a:pt x="49657" y="64140"/>
                </a:cubicBezTo>
                <a:cubicBezTo>
                  <a:pt x="49657" y="60701"/>
                  <a:pt x="52424" y="57933"/>
                  <a:pt x="55864" y="57933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42197" y="6055801"/>
            <a:ext cx="3282494" cy="6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b="1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Pattern:</a:t>
            </a:r>
            <a:r>
              <a:rPr lang="en-US" sz="104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communication flows through the application tier. The presentation and data tiers cannot communicate directly, adding an additional security layer.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318" y="362318"/>
            <a:ext cx="11530770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kern="0" spc="5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PROJECT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318" y="615941"/>
            <a:ext cx="11630407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Scope: In-Scope vs. Out-of-Scope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318" y="1086954"/>
            <a:ext cx="869563" cy="36232"/>
          </a:xfrm>
          <a:custGeom>
            <a:avLst/>
            <a:gdLst/>
            <a:ahLst/>
            <a:cxnLst/>
            <a:rect l="l" t="t" r="r" b="b"/>
            <a:pathLst>
              <a:path w="869563" h="36232">
                <a:moveTo>
                  <a:pt x="0" y="0"/>
                </a:moveTo>
                <a:lnTo>
                  <a:pt x="869563" y="0"/>
                </a:lnTo>
                <a:lnTo>
                  <a:pt x="869563" y="36232"/>
                </a:lnTo>
                <a:lnTo>
                  <a:pt x="0" y="36232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2318" y="1322461"/>
            <a:ext cx="5643103" cy="4628612"/>
          </a:xfrm>
          <a:custGeom>
            <a:avLst/>
            <a:gdLst/>
            <a:ahLst/>
            <a:cxnLst/>
            <a:rect l="l" t="t" r="r" b="b"/>
            <a:pathLst>
              <a:path w="5643103" h="4628612">
                <a:moveTo>
                  <a:pt x="36232" y="0"/>
                </a:moveTo>
                <a:lnTo>
                  <a:pt x="5606871" y="0"/>
                </a:lnTo>
                <a:cubicBezTo>
                  <a:pt x="5626881" y="0"/>
                  <a:pt x="5643103" y="16222"/>
                  <a:pt x="5643103" y="36232"/>
                </a:cubicBezTo>
                <a:lnTo>
                  <a:pt x="5643103" y="4556128"/>
                </a:lnTo>
                <a:cubicBezTo>
                  <a:pt x="5643103" y="4596160"/>
                  <a:pt x="5610650" y="4628612"/>
                  <a:pt x="5570618" y="4628612"/>
                </a:cubicBezTo>
                <a:lnTo>
                  <a:pt x="72484" y="4628612"/>
                </a:lnTo>
                <a:cubicBezTo>
                  <a:pt x="32452" y="4628612"/>
                  <a:pt x="0" y="4596160"/>
                  <a:pt x="0" y="4556128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174" dist="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2318" y="1322461"/>
            <a:ext cx="5643103" cy="36232"/>
          </a:xfrm>
          <a:custGeom>
            <a:avLst/>
            <a:gdLst/>
            <a:ahLst/>
            <a:cxnLst/>
            <a:rect l="l" t="t" r="r" b="b"/>
            <a:pathLst>
              <a:path w="5643103" h="36232">
                <a:moveTo>
                  <a:pt x="36232" y="0"/>
                </a:moveTo>
                <a:lnTo>
                  <a:pt x="5606871" y="0"/>
                </a:lnTo>
                <a:cubicBezTo>
                  <a:pt x="5626881" y="0"/>
                  <a:pt x="5643103" y="16222"/>
                  <a:pt x="5643103" y="36232"/>
                </a:cubicBezTo>
                <a:lnTo>
                  <a:pt x="5643103" y="36232"/>
                </a:lnTo>
                <a:lnTo>
                  <a:pt x="0" y="36232"/>
                </a:ln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2318" y="2430550"/>
            <a:ext cx="5643103" cy="6039"/>
          </a:xfrm>
          <a:custGeom>
            <a:avLst/>
            <a:gdLst/>
            <a:ahLst/>
            <a:cxnLst/>
            <a:rect l="l" t="t" r="r" b="b"/>
            <a:pathLst>
              <a:path w="5643103" h="6039">
                <a:moveTo>
                  <a:pt x="0" y="0"/>
                </a:moveTo>
                <a:lnTo>
                  <a:pt x="5643103" y="0"/>
                </a:lnTo>
                <a:lnTo>
                  <a:pt x="5643103" y="6039"/>
                </a:lnTo>
                <a:lnTo>
                  <a:pt x="0" y="6039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3477" y="1521736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0288" y="1648547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90579" y="181159"/>
                </a:moveTo>
                <a:cubicBezTo>
                  <a:pt x="140572" y="181159"/>
                  <a:pt x="181159" y="140572"/>
                  <a:pt x="181159" y="90579"/>
                </a:cubicBezTo>
                <a:cubicBezTo>
                  <a:pt x="181159" y="40587"/>
                  <a:pt x="140572" y="0"/>
                  <a:pt x="90579" y="0"/>
                </a:cubicBezTo>
                <a:cubicBezTo>
                  <a:pt x="40587" y="0"/>
                  <a:pt x="0" y="40587"/>
                  <a:pt x="0" y="90579"/>
                </a:cubicBezTo>
                <a:cubicBezTo>
                  <a:pt x="0" y="140572"/>
                  <a:pt x="40587" y="181159"/>
                  <a:pt x="90579" y="181159"/>
                </a:cubicBezTo>
                <a:close/>
                <a:moveTo>
                  <a:pt x="120442" y="75259"/>
                </a:moveTo>
                <a:lnTo>
                  <a:pt x="92136" y="120549"/>
                </a:lnTo>
                <a:cubicBezTo>
                  <a:pt x="90650" y="122919"/>
                  <a:pt x="88103" y="124405"/>
                  <a:pt x="85307" y="124547"/>
                </a:cubicBezTo>
                <a:cubicBezTo>
                  <a:pt x="82512" y="124688"/>
                  <a:pt x="79823" y="123415"/>
                  <a:pt x="78160" y="121150"/>
                </a:cubicBezTo>
                <a:lnTo>
                  <a:pt x="61177" y="98505"/>
                </a:lnTo>
                <a:cubicBezTo>
                  <a:pt x="58346" y="94755"/>
                  <a:pt x="59124" y="89447"/>
                  <a:pt x="62875" y="86617"/>
                </a:cubicBezTo>
                <a:cubicBezTo>
                  <a:pt x="66625" y="83786"/>
                  <a:pt x="71933" y="84564"/>
                  <a:pt x="74763" y="88315"/>
                </a:cubicBezTo>
                <a:lnTo>
                  <a:pt x="84317" y="101053"/>
                </a:lnTo>
                <a:lnTo>
                  <a:pt x="106042" y="66272"/>
                </a:lnTo>
                <a:cubicBezTo>
                  <a:pt x="108518" y="62309"/>
                  <a:pt x="113755" y="61070"/>
                  <a:pt x="117753" y="63583"/>
                </a:cubicBezTo>
                <a:cubicBezTo>
                  <a:pt x="121752" y="66095"/>
                  <a:pt x="122955" y="71296"/>
                  <a:pt x="120442" y="752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86954" y="1594199"/>
            <a:ext cx="978259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3477" y="2028981"/>
            <a:ext cx="535324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functionality included in the 14-week semester project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477" y="2632843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189" y="2714364"/>
            <a:ext cx="110960" cy="126811"/>
          </a:xfrm>
          <a:custGeom>
            <a:avLst/>
            <a:gdLst/>
            <a:ahLst/>
            <a:cxnLst/>
            <a:rect l="l" t="t" r="r" b="b"/>
            <a:pathLst>
              <a:path w="110960" h="126811">
                <a:moveTo>
                  <a:pt x="55480" y="61424"/>
                </a:moveTo>
                <a:cubicBezTo>
                  <a:pt x="71884" y="61424"/>
                  <a:pt x="85201" y="48107"/>
                  <a:pt x="85201" y="31703"/>
                </a:cubicBezTo>
                <a:cubicBezTo>
                  <a:pt x="85201" y="15299"/>
                  <a:pt x="71884" y="1981"/>
                  <a:pt x="55480" y="1981"/>
                </a:cubicBezTo>
                <a:cubicBezTo>
                  <a:pt x="39076" y="1981"/>
                  <a:pt x="25759" y="15299"/>
                  <a:pt x="25759" y="31703"/>
                </a:cubicBezTo>
                <a:cubicBezTo>
                  <a:pt x="25759" y="48107"/>
                  <a:pt x="39076" y="61424"/>
                  <a:pt x="55480" y="61424"/>
                </a:cubicBezTo>
                <a:close/>
                <a:moveTo>
                  <a:pt x="48124" y="75294"/>
                </a:moveTo>
                <a:cubicBezTo>
                  <a:pt x="23728" y="75294"/>
                  <a:pt x="3963" y="95059"/>
                  <a:pt x="3963" y="119455"/>
                </a:cubicBezTo>
                <a:cubicBezTo>
                  <a:pt x="3963" y="123517"/>
                  <a:pt x="7257" y="126811"/>
                  <a:pt x="11319" y="126811"/>
                </a:cubicBezTo>
                <a:lnTo>
                  <a:pt x="99641" y="126811"/>
                </a:lnTo>
                <a:cubicBezTo>
                  <a:pt x="103703" y="126811"/>
                  <a:pt x="106997" y="123517"/>
                  <a:pt x="106997" y="119455"/>
                </a:cubicBezTo>
                <a:cubicBezTo>
                  <a:pt x="106997" y="95059"/>
                  <a:pt x="87232" y="75294"/>
                  <a:pt x="62836" y="75294"/>
                </a:cubicBezTo>
                <a:lnTo>
                  <a:pt x="48124" y="75294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2027" y="2614727"/>
            <a:ext cx="364129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Module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2027" y="2868349"/>
            <a:ext cx="363223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CRUD functionality, status tracking, notes management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477" y="3176319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412" y="3257841"/>
            <a:ext cx="158514" cy="126811"/>
          </a:xfrm>
          <a:custGeom>
            <a:avLst/>
            <a:gdLst/>
            <a:ahLst/>
            <a:cxnLst/>
            <a:rect l="l" t="t" r="r" b="b"/>
            <a:pathLst>
              <a:path w="158514" h="126811">
                <a:moveTo>
                  <a:pt x="31703" y="23777"/>
                </a:moveTo>
                <a:cubicBezTo>
                  <a:pt x="31703" y="15034"/>
                  <a:pt x="38811" y="7926"/>
                  <a:pt x="47554" y="7926"/>
                </a:cubicBezTo>
                <a:lnTo>
                  <a:pt x="134737" y="7926"/>
                </a:lnTo>
                <a:cubicBezTo>
                  <a:pt x="143480" y="7926"/>
                  <a:pt x="150588" y="15034"/>
                  <a:pt x="150588" y="23777"/>
                </a:cubicBezTo>
                <a:lnTo>
                  <a:pt x="150588" y="83220"/>
                </a:lnTo>
                <a:lnTo>
                  <a:pt x="126811" y="83220"/>
                </a:lnTo>
                <a:lnTo>
                  <a:pt x="126811" y="79257"/>
                </a:lnTo>
                <a:cubicBezTo>
                  <a:pt x="126811" y="74873"/>
                  <a:pt x="123269" y="71331"/>
                  <a:pt x="118886" y="71331"/>
                </a:cubicBezTo>
                <a:lnTo>
                  <a:pt x="103034" y="71331"/>
                </a:lnTo>
                <a:cubicBezTo>
                  <a:pt x="98650" y="71331"/>
                  <a:pt x="95108" y="74873"/>
                  <a:pt x="95108" y="79257"/>
                </a:cubicBezTo>
                <a:lnTo>
                  <a:pt x="95108" y="83220"/>
                </a:lnTo>
                <a:lnTo>
                  <a:pt x="63133" y="83220"/>
                </a:lnTo>
                <a:cubicBezTo>
                  <a:pt x="65833" y="78564"/>
                  <a:pt x="67368" y="73139"/>
                  <a:pt x="67368" y="67368"/>
                </a:cubicBezTo>
                <a:cubicBezTo>
                  <a:pt x="67368" y="49858"/>
                  <a:pt x="53177" y="35666"/>
                  <a:pt x="35666" y="35666"/>
                </a:cubicBezTo>
                <a:cubicBezTo>
                  <a:pt x="34328" y="35666"/>
                  <a:pt x="32991" y="35740"/>
                  <a:pt x="31703" y="35913"/>
                </a:cubicBezTo>
                <a:lnTo>
                  <a:pt x="31703" y="23777"/>
                </a:lnTo>
                <a:close/>
                <a:moveTo>
                  <a:pt x="82477" y="110960"/>
                </a:moveTo>
                <a:cubicBezTo>
                  <a:pt x="81214" y="104966"/>
                  <a:pt x="78440" y="99542"/>
                  <a:pt x="74526" y="95108"/>
                </a:cubicBezTo>
                <a:lnTo>
                  <a:pt x="150588" y="95108"/>
                </a:lnTo>
                <a:cubicBezTo>
                  <a:pt x="150588" y="103852"/>
                  <a:pt x="143480" y="110960"/>
                  <a:pt x="134737" y="110960"/>
                </a:cubicBezTo>
                <a:lnTo>
                  <a:pt x="82477" y="110960"/>
                </a:lnTo>
                <a:close/>
                <a:moveTo>
                  <a:pt x="15851" y="67368"/>
                </a:moveTo>
                <a:cubicBezTo>
                  <a:pt x="15851" y="56433"/>
                  <a:pt x="24730" y="47554"/>
                  <a:pt x="35666" y="47554"/>
                </a:cubicBezTo>
                <a:cubicBezTo>
                  <a:pt x="46601" y="47554"/>
                  <a:pt x="55480" y="56433"/>
                  <a:pt x="55480" y="67368"/>
                </a:cubicBezTo>
                <a:cubicBezTo>
                  <a:pt x="55480" y="78304"/>
                  <a:pt x="46601" y="87183"/>
                  <a:pt x="35666" y="87183"/>
                </a:cubicBezTo>
                <a:cubicBezTo>
                  <a:pt x="24730" y="87183"/>
                  <a:pt x="15851" y="78304"/>
                  <a:pt x="15851" y="67368"/>
                </a:cubicBezTo>
                <a:close/>
                <a:moveTo>
                  <a:pt x="0" y="118886"/>
                </a:moveTo>
                <a:cubicBezTo>
                  <a:pt x="0" y="105759"/>
                  <a:pt x="10650" y="95108"/>
                  <a:pt x="23777" y="95108"/>
                </a:cubicBezTo>
                <a:lnTo>
                  <a:pt x="47554" y="95108"/>
                </a:lnTo>
                <a:cubicBezTo>
                  <a:pt x="60681" y="95108"/>
                  <a:pt x="71331" y="105759"/>
                  <a:pt x="71331" y="118886"/>
                </a:cubicBezTo>
                <a:cubicBezTo>
                  <a:pt x="71331" y="123269"/>
                  <a:pt x="67790" y="126811"/>
                  <a:pt x="63406" y="126811"/>
                </a:cubicBezTo>
                <a:lnTo>
                  <a:pt x="7926" y="126811"/>
                </a:lnTo>
                <a:cubicBezTo>
                  <a:pt x="3542" y="126811"/>
                  <a:pt x="0" y="123269"/>
                  <a:pt x="0" y="118886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2027" y="3158204"/>
            <a:ext cx="327897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Advisor Module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2027" y="3411826"/>
            <a:ext cx="3269920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visibility, advising notes, intervention identification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3477" y="3719796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337" y="3801318"/>
            <a:ext cx="142663" cy="126811"/>
          </a:xfrm>
          <a:custGeom>
            <a:avLst/>
            <a:gdLst/>
            <a:ahLst/>
            <a:cxnLst/>
            <a:rect l="l" t="t" r="r" b="b"/>
            <a:pathLst>
              <a:path w="142663" h="126811">
                <a:moveTo>
                  <a:pt x="55480" y="61424"/>
                </a:moveTo>
                <a:cubicBezTo>
                  <a:pt x="71884" y="61424"/>
                  <a:pt x="85201" y="48107"/>
                  <a:pt x="85201" y="31703"/>
                </a:cubicBezTo>
                <a:cubicBezTo>
                  <a:pt x="85201" y="15299"/>
                  <a:pt x="71884" y="1981"/>
                  <a:pt x="55480" y="1981"/>
                </a:cubicBezTo>
                <a:cubicBezTo>
                  <a:pt x="39076" y="1981"/>
                  <a:pt x="25759" y="15299"/>
                  <a:pt x="25759" y="31703"/>
                </a:cubicBezTo>
                <a:cubicBezTo>
                  <a:pt x="25759" y="48107"/>
                  <a:pt x="39076" y="61424"/>
                  <a:pt x="55480" y="61424"/>
                </a:cubicBezTo>
                <a:close/>
                <a:moveTo>
                  <a:pt x="48124" y="75294"/>
                </a:moveTo>
                <a:cubicBezTo>
                  <a:pt x="23728" y="75294"/>
                  <a:pt x="3963" y="95059"/>
                  <a:pt x="3963" y="119455"/>
                </a:cubicBezTo>
                <a:cubicBezTo>
                  <a:pt x="3963" y="123517"/>
                  <a:pt x="7257" y="126811"/>
                  <a:pt x="11319" y="126811"/>
                </a:cubicBezTo>
                <a:lnTo>
                  <a:pt x="73610" y="126811"/>
                </a:lnTo>
                <a:cubicBezTo>
                  <a:pt x="64644" y="116260"/>
                  <a:pt x="59443" y="102663"/>
                  <a:pt x="59443" y="88273"/>
                </a:cubicBezTo>
                <a:lnTo>
                  <a:pt x="59443" y="80570"/>
                </a:lnTo>
                <a:cubicBezTo>
                  <a:pt x="59443" y="78762"/>
                  <a:pt x="59690" y="76978"/>
                  <a:pt x="60161" y="75294"/>
                </a:cubicBezTo>
                <a:lnTo>
                  <a:pt x="48124" y="75294"/>
                </a:lnTo>
                <a:close/>
                <a:moveTo>
                  <a:pt x="110291" y="120991"/>
                </a:moveTo>
                <a:lnTo>
                  <a:pt x="106997" y="122551"/>
                </a:lnTo>
                <a:lnTo>
                  <a:pt x="106997" y="75963"/>
                </a:lnTo>
                <a:lnTo>
                  <a:pt x="130774" y="83889"/>
                </a:lnTo>
                <a:lnTo>
                  <a:pt x="130774" y="88743"/>
                </a:lnTo>
                <a:cubicBezTo>
                  <a:pt x="130774" y="102564"/>
                  <a:pt x="122799" y="115121"/>
                  <a:pt x="110291" y="121016"/>
                </a:cubicBezTo>
                <a:close/>
                <a:moveTo>
                  <a:pt x="104495" y="64273"/>
                </a:moveTo>
                <a:lnTo>
                  <a:pt x="76756" y="73511"/>
                </a:lnTo>
                <a:cubicBezTo>
                  <a:pt x="73511" y="74601"/>
                  <a:pt x="71331" y="77622"/>
                  <a:pt x="71331" y="81040"/>
                </a:cubicBezTo>
                <a:lnTo>
                  <a:pt x="71331" y="88743"/>
                </a:lnTo>
                <a:cubicBezTo>
                  <a:pt x="71331" y="107170"/>
                  <a:pt x="81982" y="123938"/>
                  <a:pt x="98626" y="131765"/>
                </a:cubicBezTo>
                <a:lnTo>
                  <a:pt x="103208" y="133920"/>
                </a:lnTo>
                <a:cubicBezTo>
                  <a:pt x="104396" y="134465"/>
                  <a:pt x="105684" y="134762"/>
                  <a:pt x="106972" y="134762"/>
                </a:cubicBezTo>
                <a:cubicBezTo>
                  <a:pt x="108260" y="134762"/>
                  <a:pt x="109573" y="134465"/>
                  <a:pt x="110737" y="133920"/>
                </a:cubicBezTo>
                <a:lnTo>
                  <a:pt x="115319" y="131765"/>
                </a:lnTo>
                <a:cubicBezTo>
                  <a:pt x="132013" y="123913"/>
                  <a:pt x="142663" y="107146"/>
                  <a:pt x="142663" y="88718"/>
                </a:cubicBezTo>
                <a:lnTo>
                  <a:pt x="142663" y="81016"/>
                </a:lnTo>
                <a:cubicBezTo>
                  <a:pt x="142663" y="77598"/>
                  <a:pt x="140483" y="74576"/>
                  <a:pt x="137239" y="73486"/>
                </a:cubicBezTo>
                <a:lnTo>
                  <a:pt x="109499" y="64248"/>
                </a:lnTo>
                <a:cubicBezTo>
                  <a:pt x="107864" y="63703"/>
                  <a:pt x="106105" y="63703"/>
                  <a:pt x="104495" y="64248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2027" y="3701681"/>
            <a:ext cx="359600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Module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2027" y="3955303"/>
            <a:ext cx="358694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 directory management, dashboards, report generation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477" y="4263273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189" y="4344795"/>
            <a:ext cx="110960" cy="126811"/>
          </a:xfrm>
          <a:custGeom>
            <a:avLst/>
            <a:gdLst/>
            <a:ahLst/>
            <a:cxnLst/>
            <a:rect l="l" t="t" r="r" b="b"/>
            <a:pathLst>
              <a:path w="110960" h="126811">
                <a:moveTo>
                  <a:pt x="110960" y="50972"/>
                </a:moveTo>
                <a:cubicBezTo>
                  <a:pt x="107294" y="53399"/>
                  <a:pt x="103084" y="55356"/>
                  <a:pt x="98700" y="56916"/>
                </a:cubicBezTo>
                <a:cubicBezTo>
                  <a:pt x="87059" y="61077"/>
                  <a:pt x="71777" y="63406"/>
                  <a:pt x="55480" y="63406"/>
                </a:cubicBezTo>
                <a:cubicBezTo>
                  <a:pt x="39183" y="63406"/>
                  <a:pt x="23876" y="61053"/>
                  <a:pt x="12260" y="56916"/>
                </a:cubicBezTo>
                <a:cubicBezTo>
                  <a:pt x="7901" y="55356"/>
                  <a:pt x="3666" y="53399"/>
                  <a:pt x="0" y="50972"/>
                </a:cubicBezTo>
                <a:lnTo>
                  <a:pt x="0" y="71331"/>
                </a:lnTo>
                <a:cubicBezTo>
                  <a:pt x="0" y="82279"/>
                  <a:pt x="24842" y="91146"/>
                  <a:pt x="55480" y="91146"/>
                </a:cubicBezTo>
                <a:cubicBezTo>
                  <a:pt x="86118" y="91146"/>
                  <a:pt x="110960" y="82279"/>
                  <a:pt x="110960" y="71331"/>
                </a:cubicBezTo>
                <a:lnTo>
                  <a:pt x="110960" y="50972"/>
                </a:lnTo>
                <a:close/>
                <a:moveTo>
                  <a:pt x="110960" y="31703"/>
                </a:moveTo>
                <a:lnTo>
                  <a:pt x="110960" y="19814"/>
                </a:lnTo>
                <a:cubicBezTo>
                  <a:pt x="110960" y="8867"/>
                  <a:pt x="86118" y="0"/>
                  <a:pt x="55480" y="0"/>
                </a:cubicBezTo>
                <a:cubicBezTo>
                  <a:pt x="24842" y="0"/>
                  <a:pt x="0" y="8867"/>
                  <a:pt x="0" y="19814"/>
                </a:cubicBezTo>
                <a:lnTo>
                  <a:pt x="0" y="31703"/>
                </a:lnTo>
                <a:cubicBezTo>
                  <a:pt x="0" y="42650"/>
                  <a:pt x="24842" y="51517"/>
                  <a:pt x="55480" y="51517"/>
                </a:cubicBezTo>
                <a:cubicBezTo>
                  <a:pt x="86118" y="51517"/>
                  <a:pt x="110960" y="42650"/>
                  <a:pt x="110960" y="31703"/>
                </a:cubicBezTo>
                <a:close/>
                <a:moveTo>
                  <a:pt x="98700" y="96545"/>
                </a:moveTo>
                <a:cubicBezTo>
                  <a:pt x="87084" y="100681"/>
                  <a:pt x="71802" y="103034"/>
                  <a:pt x="55480" y="103034"/>
                </a:cubicBezTo>
                <a:cubicBezTo>
                  <a:pt x="39158" y="103034"/>
                  <a:pt x="23876" y="100681"/>
                  <a:pt x="12260" y="96545"/>
                </a:cubicBezTo>
                <a:cubicBezTo>
                  <a:pt x="7901" y="94985"/>
                  <a:pt x="3666" y="93028"/>
                  <a:pt x="0" y="90601"/>
                </a:cubicBezTo>
                <a:lnTo>
                  <a:pt x="0" y="106997"/>
                </a:lnTo>
                <a:cubicBezTo>
                  <a:pt x="0" y="117944"/>
                  <a:pt x="24842" y="126811"/>
                  <a:pt x="55480" y="126811"/>
                </a:cubicBezTo>
                <a:cubicBezTo>
                  <a:pt x="86118" y="126811"/>
                  <a:pt x="110960" y="117944"/>
                  <a:pt x="110960" y="106997"/>
                </a:cubicBezTo>
                <a:lnTo>
                  <a:pt x="110960" y="90601"/>
                </a:lnTo>
                <a:cubicBezTo>
                  <a:pt x="107294" y="93028"/>
                  <a:pt x="103084" y="94985"/>
                  <a:pt x="98700" y="96545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2027" y="4245158"/>
            <a:ext cx="3487311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Database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2027" y="4498780"/>
            <a:ext cx="347825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schema design, relationships, data integrity constraints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477" y="4806750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3114" y="4888272"/>
            <a:ext cx="95108" cy="126811"/>
          </a:xfrm>
          <a:custGeom>
            <a:avLst/>
            <a:gdLst/>
            <a:ahLst/>
            <a:cxnLst/>
            <a:rect l="l" t="t" r="r" b="b"/>
            <a:pathLst>
              <a:path w="95108" h="126811">
                <a:moveTo>
                  <a:pt x="31703" y="23777"/>
                </a:moveTo>
                <a:lnTo>
                  <a:pt x="31703" y="39629"/>
                </a:lnTo>
                <a:lnTo>
                  <a:pt x="63406" y="39629"/>
                </a:lnTo>
                <a:lnTo>
                  <a:pt x="63406" y="23777"/>
                </a:lnTo>
                <a:cubicBezTo>
                  <a:pt x="63406" y="15034"/>
                  <a:pt x="56297" y="7926"/>
                  <a:pt x="47554" y="7926"/>
                </a:cubicBezTo>
                <a:cubicBezTo>
                  <a:pt x="38811" y="7926"/>
                  <a:pt x="31703" y="15034"/>
                  <a:pt x="31703" y="23777"/>
                </a:cubicBezTo>
                <a:close/>
                <a:moveTo>
                  <a:pt x="15851" y="39629"/>
                </a:moveTo>
                <a:lnTo>
                  <a:pt x="15851" y="23777"/>
                </a:lnTo>
                <a:cubicBezTo>
                  <a:pt x="15851" y="6266"/>
                  <a:pt x="30043" y="-7926"/>
                  <a:pt x="47554" y="-7926"/>
                </a:cubicBezTo>
                <a:cubicBezTo>
                  <a:pt x="65065" y="-7926"/>
                  <a:pt x="79257" y="6266"/>
                  <a:pt x="79257" y="23777"/>
                </a:cubicBezTo>
                <a:lnTo>
                  <a:pt x="79257" y="39629"/>
                </a:lnTo>
                <a:cubicBezTo>
                  <a:pt x="88000" y="39629"/>
                  <a:pt x="95108" y="46737"/>
                  <a:pt x="95108" y="55480"/>
                </a:cubicBezTo>
                <a:lnTo>
                  <a:pt x="95108" y="110960"/>
                </a:lnTo>
                <a:cubicBezTo>
                  <a:pt x="95108" y="119703"/>
                  <a:pt x="88000" y="126811"/>
                  <a:pt x="79257" y="126811"/>
                </a:cubicBezTo>
                <a:lnTo>
                  <a:pt x="15851" y="126811"/>
                </a:lnTo>
                <a:cubicBezTo>
                  <a:pt x="7108" y="126811"/>
                  <a:pt x="0" y="119703"/>
                  <a:pt x="0" y="110960"/>
                </a:cubicBezTo>
                <a:lnTo>
                  <a:pt x="0" y="55480"/>
                </a:lnTo>
                <a:cubicBezTo>
                  <a:pt x="0" y="46737"/>
                  <a:pt x="7108" y="39629"/>
                  <a:pt x="15851" y="39629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2027" y="4788634"/>
            <a:ext cx="328803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System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2027" y="5042257"/>
            <a:ext cx="327897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login for students, advisors, and administrators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3477" y="5350227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7263" y="5431749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7926" y="7926"/>
                </a:moveTo>
                <a:cubicBezTo>
                  <a:pt x="12310" y="7926"/>
                  <a:pt x="15851" y="11468"/>
                  <a:pt x="15851" y="15851"/>
                </a:cubicBezTo>
                <a:lnTo>
                  <a:pt x="15851" y="99071"/>
                </a:lnTo>
                <a:cubicBezTo>
                  <a:pt x="15851" y="101251"/>
                  <a:pt x="17635" y="103034"/>
                  <a:pt x="19814" y="103034"/>
                </a:cubicBezTo>
                <a:lnTo>
                  <a:pt x="118886" y="103034"/>
                </a:lnTo>
                <a:cubicBezTo>
                  <a:pt x="123269" y="103034"/>
                  <a:pt x="126811" y="106576"/>
                  <a:pt x="126811" y="110960"/>
                </a:cubicBezTo>
                <a:cubicBezTo>
                  <a:pt x="126811" y="115344"/>
                  <a:pt x="123269" y="118886"/>
                  <a:pt x="118886" y="118886"/>
                </a:cubicBezTo>
                <a:lnTo>
                  <a:pt x="19814" y="118886"/>
                </a:lnTo>
                <a:cubicBezTo>
                  <a:pt x="8867" y="118886"/>
                  <a:pt x="0" y="110019"/>
                  <a:pt x="0" y="99071"/>
                </a:cubicBezTo>
                <a:lnTo>
                  <a:pt x="0" y="15851"/>
                </a:lnTo>
                <a:cubicBezTo>
                  <a:pt x="0" y="11468"/>
                  <a:pt x="3542" y="7926"/>
                  <a:pt x="7926" y="7926"/>
                </a:cubicBezTo>
                <a:close/>
                <a:moveTo>
                  <a:pt x="31703" y="23777"/>
                </a:moveTo>
                <a:cubicBezTo>
                  <a:pt x="31703" y="19393"/>
                  <a:pt x="35245" y="15851"/>
                  <a:pt x="39629" y="15851"/>
                </a:cubicBezTo>
                <a:lnTo>
                  <a:pt x="87183" y="15851"/>
                </a:lnTo>
                <a:cubicBezTo>
                  <a:pt x="91567" y="15851"/>
                  <a:pt x="95108" y="19393"/>
                  <a:pt x="95108" y="23777"/>
                </a:cubicBezTo>
                <a:cubicBezTo>
                  <a:pt x="95108" y="28161"/>
                  <a:pt x="91567" y="31703"/>
                  <a:pt x="87183" y="31703"/>
                </a:cubicBezTo>
                <a:lnTo>
                  <a:pt x="39629" y="31703"/>
                </a:lnTo>
                <a:cubicBezTo>
                  <a:pt x="35245" y="31703"/>
                  <a:pt x="31703" y="28161"/>
                  <a:pt x="31703" y="23777"/>
                </a:cubicBezTo>
                <a:close/>
                <a:moveTo>
                  <a:pt x="39629" y="43591"/>
                </a:moveTo>
                <a:lnTo>
                  <a:pt x="71331" y="43591"/>
                </a:lnTo>
                <a:cubicBezTo>
                  <a:pt x="75715" y="43591"/>
                  <a:pt x="79257" y="47133"/>
                  <a:pt x="79257" y="51517"/>
                </a:cubicBezTo>
                <a:cubicBezTo>
                  <a:pt x="79257" y="55901"/>
                  <a:pt x="75715" y="59443"/>
                  <a:pt x="71331" y="59443"/>
                </a:cubicBezTo>
                <a:lnTo>
                  <a:pt x="39629" y="59443"/>
                </a:lnTo>
                <a:cubicBezTo>
                  <a:pt x="35245" y="59443"/>
                  <a:pt x="31703" y="55901"/>
                  <a:pt x="31703" y="51517"/>
                </a:cubicBezTo>
                <a:cubicBezTo>
                  <a:pt x="31703" y="47133"/>
                  <a:pt x="35245" y="43591"/>
                  <a:pt x="39629" y="43591"/>
                </a:cubicBezTo>
                <a:close/>
                <a:moveTo>
                  <a:pt x="39629" y="71331"/>
                </a:moveTo>
                <a:lnTo>
                  <a:pt x="103034" y="71331"/>
                </a:lnTo>
                <a:cubicBezTo>
                  <a:pt x="107418" y="71331"/>
                  <a:pt x="110960" y="74873"/>
                  <a:pt x="110960" y="79257"/>
                </a:cubicBezTo>
                <a:cubicBezTo>
                  <a:pt x="110960" y="83641"/>
                  <a:pt x="107418" y="87183"/>
                  <a:pt x="103034" y="87183"/>
                </a:cubicBezTo>
                <a:lnTo>
                  <a:pt x="39629" y="87183"/>
                </a:lnTo>
                <a:cubicBezTo>
                  <a:pt x="35245" y="87183"/>
                  <a:pt x="31703" y="83641"/>
                  <a:pt x="31703" y="79257"/>
                </a:cubicBezTo>
                <a:cubicBezTo>
                  <a:pt x="31703" y="74873"/>
                  <a:pt x="35245" y="71331"/>
                  <a:pt x="39629" y="71331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2027" y="5332111"/>
            <a:ext cx="3088761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Reporting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2027" y="5585734"/>
            <a:ext cx="307970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statistics, employer metrics, funnel analytics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5542" y="1322461"/>
            <a:ext cx="5643103" cy="4628612"/>
          </a:xfrm>
          <a:custGeom>
            <a:avLst/>
            <a:gdLst/>
            <a:ahLst/>
            <a:cxnLst/>
            <a:rect l="l" t="t" r="r" b="b"/>
            <a:pathLst>
              <a:path w="5643103" h="4628612">
                <a:moveTo>
                  <a:pt x="36232" y="0"/>
                </a:moveTo>
                <a:lnTo>
                  <a:pt x="5606871" y="0"/>
                </a:lnTo>
                <a:cubicBezTo>
                  <a:pt x="5626881" y="0"/>
                  <a:pt x="5643103" y="16222"/>
                  <a:pt x="5643103" y="36232"/>
                </a:cubicBezTo>
                <a:lnTo>
                  <a:pt x="5643103" y="4556128"/>
                </a:lnTo>
                <a:cubicBezTo>
                  <a:pt x="5643103" y="4596160"/>
                  <a:pt x="5610650" y="4628612"/>
                  <a:pt x="5570618" y="4628612"/>
                </a:cubicBezTo>
                <a:lnTo>
                  <a:pt x="72484" y="4628612"/>
                </a:lnTo>
                <a:cubicBezTo>
                  <a:pt x="32452" y="4628612"/>
                  <a:pt x="0" y="4596160"/>
                  <a:pt x="0" y="4556128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174" dist="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85542" y="1322461"/>
            <a:ext cx="5643103" cy="36232"/>
          </a:xfrm>
          <a:custGeom>
            <a:avLst/>
            <a:gdLst/>
            <a:ahLst/>
            <a:cxnLst/>
            <a:rect l="l" t="t" r="r" b="b"/>
            <a:pathLst>
              <a:path w="5643103" h="36232">
                <a:moveTo>
                  <a:pt x="36232" y="0"/>
                </a:moveTo>
                <a:lnTo>
                  <a:pt x="5606871" y="0"/>
                </a:lnTo>
                <a:cubicBezTo>
                  <a:pt x="5626881" y="0"/>
                  <a:pt x="5643103" y="16222"/>
                  <a:pt x="5643103" y="36232"/>
                </a:cubicBezTo>
                <a:lnTo>
                  <a:pt x="5643103" y="36232"/>
                </a:lnTo>
                <a:lnTo>
                  <a:pt x="0" y="36232"/>
                </a:ln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85542" y="2430550"/>
            <a:ext cx="5643103" cy="6039"/>
          </a:xfrm>
          <a:custGeom>
            <a:avLst/>
            <a:gdLst/>
            <a:ahLst/>
            <a:cxnLst/>
            <a:rect l="l" t="t" r="r" b="b"/>
            <a:pathLst>
              <a:path w="5643103" h="6039">
                <a:moveTo>
                  <a:pt x="0" y="0"/>
                </a:moveTo>
                <a:lnTo>
                  <a:pt x="5643103" y="0"/>
                </a:lnTo>
                <a:lnTo>
                  <a:pt x="5643103" y="6039"/>
                </a:lnTo>
                <a:lnTo>
                  <a:pt x="0" y="6039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66701" y="1521736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93512" y="1648547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90579" y="181159"/>
                </a:moveTo>
                <a:cubicBezTo>
                  <a:pt x="140572" y="181159"/>
                  <a:pt x="181159" y="140572"/>
                  <a:pt x="181159" y="90579"/>
                </a:cubicBezTo>
                <a:cubicBezTo>
                  <a:pt x="181159" y="40587"/>
                  <a:pt x="140572" y="0"/>
                  <a:pt x="90579" y="0"/>
                </a:cubicBezTo>
                <a:cubicBezTo>
                  <a:pt x="40587" y="0"/>
                  <a:pt x="0" y="40587"/>
                  <a:pt x="0" y="90579"/>
                </a:cubicBezTo>
                <a:cubicBezTo>
                  <a:pt x="0" y="140572"/>
                  <a:pt x="40587" y="181159"/>
                  <a:pt x="90579" y="181159"/>
                </a:cubicBezTo>
                <a:close/>
                <a:moveTo>
                  <a:pt x="59089" y="59089"/>
                </a:moveTo>
                <a:cubicBezTo>
                  <a:pt x="62415" y="55763"/>
                  <a:pt x="67793" y="55763"/>
                  <a:pt x="71084" y="59089"/>
                </a:cubicBezTo>
                <a:lnTo>
                  <a:pt x="90544" y="78549"/>
                </a:lnTo>
                <a:lnTo>
                  <a:pt x="110005" y="59089"/>
                </a:lnTo>
                <a:cubicBezTo>
                  <a:pt x="113331" y="55763"/>
                  <a:pt x="118709" y="55763"/>
                  <a:pt x="121999" y="59089"/>
                </a:cubicBezTo>
                <a:cubicBezTo>
                  <a:pt x="125290" y="62415"/>
                  <a:pt x="125325" y="67793"/>
                  <a:pt x="121999" y="71084"/>
                </a:cubicBezTo>
                <a:lnTo>
                  <a:pt x="102539" y="90544"/>
                </a:lnTo>
                <a:lnTo>
                  <a:pt x="121999" y="110005"/>
                </a:lnTo>
                <a:cubicBezTo>
                  <a:pt x="125325" y="113331"/>
                  <a:pt x="125325" y="118709"/>
                  <a:pt x="121999" y="121999"/>
                </a:cubicBezTo>
                <a:cubicBezTo>
                  <a:pt x="118673" y="125290"/>
                  <a:pt x="113295" y="125325"/>
                  <a:pt x="110005" y="121999"/>
                </a:cubicBezTo>
                <a:lnTo>
                  <a:pt x="90544" y="102539"/>
                </a:lnTo>
                <a:lnTo>
                  <a:pt x="71084" y="121999"/>
                </a:lnTo>
                <a:cubicBezTo>
                  <a:pt x="67758" y="125325"/>
                  <a:pt x="62380" y="125325"/>
                  <a:pt x="59089" y="121999"/>
                </a:cubicBezTo>
                <a:cubicBezTo>
                  <a:pt x="55798" y="118673"/>
                  <a:pt x="55763" y="113295"/>
                  <a:pt x="59089" y="110005"/>
                </a:cubicBezTo>
                <a:lnTo>
                  <a:pt x="78549" y="90544"/>
                </a:lnTo>
                <a:lnTo>
                  <a:pt x="59089" y="71084"/>
                </a:lnTo>
                <a:cubicBezTo>
                  <a:pt x="55763" y="67758"/>
                  <a:pt x="55763" y="62380"/>
                  <a:pt x="59089" y="590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10178" y="1594199"/>
            <a:ext cx="1440214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Out-of-Scope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6701" y="2028981"/>
            <a:ext cx="535324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excluded to maintain feasibility within semester constraints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6701" y="2632843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50487" y="2714364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11889" y="15851"/>
                </a:moveTo>
                <a:cubicBezTo>
                  <a:pt x="5325" y="15851"/>
                  <a:pt x="0" y="21176"/>
                  <a:pt x="0" y="27740"/>
                </a:cubicBezTo>
                <a:cubicBezTo>
                  <a:pt x="0" y="31480"/>
                  <a:pt x="1759" y="34997"/>
                  <a:pt x="4755" y="37251"/>
                </a:cubicBezTo>
                <a:lnTo>
                  <a:pt x="56273" y="75889"/>
                </a:lnTo>
                <a:cubicBezTo>
                  <a:pt x="60508" y="79059"/>
                  <a:pt x="66303" y="79059"/>
                  <a:pt x="70539" y="75889"/>
                </a:cubicBezTo>
                <a:lnTo>
                  <a:pt x="122056" y="37251"/>
                </a:lnTo>
                <a:cubicBezTo>
                  <a:pt x="125053" y="34997"/>
                  <a:pt x="126811" y="31480"/>
                  <a:pt x="126811" y="27740"/>
                </a:cubicBezTo>
                <a:cubicBezTo>
                  <a:pt x="126811" y="21176"/>
                  <a:pt x="121486" y="15851"/>
                  <a:pt x="114923" y="15851"/>
                </a:cubicBezTo>
                <a:lnTo>
                  <a:pt x="11889" y="15851"/>
                </a:lnTo>
                <a:close/>
                <a:moveTo>
                  <a:pt x="0" y="48545"/>
                </a:moveTo>
                <a:lnTo>
                  <a:pt x="0" y="95108"/>
                </a:lnTo>
                <a:cubicBezTo>
                  <a:pt x="0" y="103852"/>
                  <a:pt x="7108" y="110960"/>
                  <a:pt x="15851" y="110960"/>
                </a:cubicBezTo>
                <a:lnTo>
                  <a:pt x="110960" y="110960"/>
                </a:lnTo>
                <a:cubicBezTo>
                  <a:pt x="119703" y="110960"/>
                  <a:pt x="126811" y="103852"/>
                  <a:pt x="126811" y="95108"/>
                </a:cubicBezTo>
                <a:lnTo>
                  <a:pt x="126811" y="48545"/>
                </a:lnTo>
                <a:lnTo>
                  <a:pt x="77672" y="85399"/>
                </a:lnTo>
                <a:cubicBezTo>
                  <a:pt x="69226" y="91740"/>
                  <a:pt x="57585" y="91740"/>
                  <a:pt x="49139" y="85399"/>
                </a:cubicBezTo>
                <a:lnTo>
                  <a:pt x="0" y="48545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5251" y="2614727"/>
            <a:ext cx="362318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Email/Calendar Integration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5251" y="2868349"/>
            <a:ext cx="3614122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automated email notifications or calendar scheduling features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6701" y="3176319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34635" y="3257841"/>
            <a:ext cx="158514" cy="126811"/>
          </a:xfrm>
          <a:custGeom>
            <a:avLst/>
            <a:gdLst/>
            <a:ahLst/>
            <a:cxnLst/>
            <a:rect l="l" t="t" r="r" b="b"/>
            <a:pathLst>
              <a:path w="158514" h="126811">
                <a:moveTo>
                  <a:pt x="87183" y="0"/>
                </a:moveTo>
                <a:cubicBezTo>
                  <a:pt x="87183" y="-4384"/>
                  <a:pt x="83641" y="-7926"/>
                  <a:pt x="79257" y="-7926"/>
                </a:cubicBezTo>
                <a:cubicBezTo>
                  <a:pt x="74873" y="-7926"/>
                  <a:pt x="71331" y="-4384"/>
                  <a:pt x="71331" y="0"/>
                </a:cubicBezTo>
                <a:lnTo>
                  <a:pt x="71331" y="15851"/>
                </a:lnTo>
                <a:lnTo>
                  <a:pt x="47554" y="15851"/>
                </a:lnTo>
                <a:cubicBezTo>
                  <a:pt x="34427" y="15851"/>
                  <a:pt x="23777" y="26502"/>
                  <a:pt x="23777" y="39629"/>
                </a:cubicBezTo>
                <a:lnTo>
                  <a:pt x="23777" y="95108"/>
                </a:lnTo>
                <a:cubicBezTo>
                  <a:pt x="23777" y="108235"/>
                  <a:pt x="34427" y="118886"/>
                  <a:pt x="47554" y="118886"/>
                </a:cubicBezTo>
                <a:lnTo>
                  <a:pt x="110960" y="118886"/>
                </a:lnTo>
                <a:cubicBezTo>
                  <a:pt x="124087" y="118886"/>
                  <a:pt x="134737" y="108235"/>
                  <a:pt x="134737" y="95108"/>
                </a:cubicBezTo>
                <a:lnTo>
                  <a:pt x="134737" y="39629"/>
                </a:lnTo>
                <a:cubicBezTo>
                  <a:pt x="134737" y="26502"/>
                  <a:pt x="124087" y="15851"/>
                  <a:pt x="110960" y="15851"/>
                </a:cubicBezTo>
                <a:lnTo>
                  <a:pt x="87183" y="15851"/>
                </a:lnTo>
                <a:lnTo>
                  <a:pt x="87183" y="0"/>
                </a:lnTo>
                <a:close/>
                <a:moveTo>
                  <a:pt x="39629" y="91146"/>
                </a:moveTo>
                <a:cubicBezTo>
                  <a:pt x="39629" y="87851"/>
                  <a:pt x="42279" y="85201"/>
                  <a:pt x="45573" y="85201"/>
                </a:cubicBezTo>
                <a:lnTo>
                  <a:pt x="53499" y="85201"/>
                </a:lnTo>
                <a:cubicBezTo>
                  <a:pt x="56793" y="85201"/>
                  <a:pt x="59443" y="87851"/>
                  <a:pt x="59443" y="91146"/>
                </a:cubicBezTo>
                <a:cubicBezTo>
                  <a:pt x="59443" y="94440"/>
                  <a:pt x="56793" y="97090"/>
                  <a:pt x="53499" y="97090"/>
                </a:cubicBezTo>
                <a:lnTo>
                  <a:pt x="45573" y="97090"/>
                </a:lnTo>
                <a:cubicBezTo>
                  <a:pt x="42279" y="97090"/>
                  <a:pt x="39629" y="94440"/>
                  <a:pt x="39629" y="91146"/>
                </a:cubicBezTo>
                <a:close/>
                <a:moveTo>
                  <a:pt x="69350" y="91146"/>
                </a:moveTo>
                <a:cubicBezTo>
                  <a:pt x="69350" y="87851"/>
                  <a:pt x="72000" y="85201"/>
                  <a:pt x="75294" y="85201"/>
                </a:cubicBezTo>
                <a:lnTo>
                  <a:pt x="83220" y="85201"/>
                </a:lnTo>
                <a:cubicBezTo>
                  <a:pt x="86514" y="85201"/>
                  <a:pt x="89164" y="87851"/>
                  <a:pt x="89164" y="91146"/>
                </a:cubicBezTo>
                <a:cubicBezTo>
                  <a:pt x="89164" y="94440"/>
                  <a:pt x="86514" y="97090"/>
                  <a:pt x="83220" y="97090"/>
                </a:cubicBezTo>
                <a:lnTo>
                  <a:pt x="75294" y="97090"/>
                </a:lnTo>
                <a:cubicBezTo>
                  <a:pt x="72000" y="97090"/>
                  <a:pt x="69350" y="94440"/>
                  <a:pt x="69350" y="91146"/>
                </a:cubicBezTo>
                <a:close/>
                <a:moveTo>
                  <a:pt x="99071" y="91146"/>
                </a:moveTo>
                <a:cubicBezTo>
                  <a:pt x="99071" y="87851"/>
                  <a:pt x="101721" y="85201"/>
                  <a:pt x="105016" y="85201"/>
                </a:cubicBezTo>
                <a:lnTo>
                  <a:pt x="112941" y="85201"/>
                </a:lnTo>
                <a:cubicBezTo>
                  <a:pt x="116235" y="85201"/>
                  <a:pt x="118886" y="87851"/>
                  <a:pt x="118886" y="91146"/>
                </a:cubicBezTo>
                <a:cubicBezTo>
                  <a:pt x="118886" y="94440"/>
                  <a:pt x="116235" y="97090"/>
                  <a:pt x="112941" y="97090"/>
                </a:cubicBezTo>
                <a:lnTo>
                  <a:pt x="105016" y="97090"/>
                </a:lnTo>
                <a:cubicBezTo>
                  <a:pt x="101721" y="97090"/>
                  <a:pt x="99071" y="94440"/>
                  <a:pt x="99071" y="91146"/>
                </a:cubicBezTo>
                <a:close/>
                <a:moveTo>
                  <a:pt x="55480" y="43591"/>
                </a:moveTo>
                <a:cubicBezTo>
                  <a:pt x="62041" y="43591"/>
                  <a:pt x="67368" y="48918"/>
                  <a:pt x="67368" y="55480"/>
                </a:cubicBezTo>
                <a:cubicBezTo>
                  <a:pt x="67368" y="62041"/>
                  <a:pt x="62041" y="67368"/>
                  <a:pt x="55480" y="67368"/>
                </a:cubicBezTo>
                <a:cubicBezTo>
                  <a:pt x="48918" y="67368"/>
                  <a:pt x="43591" y="62041"/>
                  <a:pt x="43591" y="55480"/>
                </a:cubicBezTo>
                <a:cubicBezTo>
                  <a:pt x="43591" y="48918"/>
                  <a:pt x="48918" y="43591"/>
                  <a:pt x="55480" y="43591"/>
                </a:cubicBezTo>
                <a:close/>
                <a:moveTo>
                  <a:pt x="91146" y="55480"/>
                </a:moveTo>
                <a:cubicBezTo>
                  <a:pt x="91146" y="48918"/>
                  <a:pt x="96473" y="43591"/>
                  <a:pt x="103034" y="43591"/>
                </a:cubicBezTo>
                <a:cubicBezTo>
                  <a:pt x="109596" y="43591"/>
                  <a:pt x="114923" y="48918"/>
                  <a:pt x="114923" y="55480"/>
                </a:cubicBezTo>
                <a:cubicBezTo>
                  <a:pt x="114923" y="62041"/>
                  <a:pt x="109596" y="67368"/>
                  <a:pt x="103034" y="67368"/>
                </a:cubicBezTo>
                <a:cubicBezTo>
                  <a:pt x="96473" y="67368"/>
                  <a:pt x="91146" y="62041"/>
                  <a:pt x="91146" y="55480"/>
                </a:cubicBezTo>
                <a:close/>
                <a:moveTo>
                  <a:pt x="15851" y="55480"/>
                </a:moveTo>
                <a:cubicBezTo>
                  <a:pt x="15851" y="51096"/>
                  <a:pt x="12310" y="47554"/>
                  <a:pt x="7926" y="47554"/>
                </a:cubicBezTo>
                <a:cubicBezTo>
                  <a:pt x="3542" y="47554"/>
                  <a:pt x="0" y="51096"/>
                  <a:pt x="0" y="55480"/>
                </a:cubicBezTo>
                <a:lnTo>
                  <a:pt x="0" y="79257"/>
                </a:lnTo>
                <a:cubicBezTo>
                  <a:pt x="0" y="83641"/>
                  <a:pt x="3542" y="87183"/>
                  <a:pt x="7926" y="87183"/>
                </a:cubicBezTo>
                <a:cubicBezTo>
                  <a:pt x="12310" y="87183"/>
                  <a:pt x="15851" y="83641"/>
                  <a:pt x="15851" y="79257"/>
                </a:cubicBezTo>
                <a:lnTo>
                  <a:pt x="15851" y="55480"/>
                </a:lnTo>
                <a:close/>
                <a:moveTo>
                  <a:pt x="150588" y="47554"/>
                </a:moveTo>
                <a:cubicBezTo>
                  <a:pt x="146205" y="47554"/>
                  <a:pt x="142663" y="51096"/>
                  <a:pt x="142663" y="55480"/>
                </a:cubicBezTo>
                <a:lnTo>
                  <a:pt x="142663" y="79257"/>
                </a:lnTo>
                <a:cubicBezTo>
                  <a:pt x="142663" y="83641"/>
                  <a:pt x="146205" y="87183"/>
                  <a:pt x="150588" y="87183"/>
                </a:cubicBezTo>
                <a:cubicBezTo>
                  <a:pt x="154972" y="87183"/>
                  <a:pt x="158514" y="83641"/>
                  <a:pt x="158514" y="79257"/>
                </a:cubicBezTo>
                <a:lnTo>
                  <a:pt x="158514" y="55480"/>
                </a:lnTo>
                <a:cubicBezTo>
                  <a:pt x="158514" y="51096"/>
                  <a:pt x="154972" y="47554"/>
                  <a:pt x="150588" y="47554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65251" y="3158204"/>
            <a:ext cx="3460137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Job Scraping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65251" y="3411826"/>
            <a:ext cx="345107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integration with external job boards for automatic postings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6701" y="3719796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450487" y="3801318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29721" y="13870"/>
                </a:moveTo>
                <a:cubicBezTo>
                  <a:pt x="29721" y="6217"/>
                  <a:pt x="35938" y="0"/>
                  <a:pt x="43591" y="0"/>
                </a:cubicBezTo>
                <a:lnTo>
                  <a:pt x="49536" y="0"/>
                </a:lnTo>
                <a:cubicBezTo>
                  <a:pt x="53920" y="0"/>
                  <a:pt x="57461" y="3542"/>
                  <a:pt x="57461" y="7926"/>
                </a:cubicBezTo>
                <a:lnTo>
                  <a:pt x="57461" y="118886"/>
                </a:lnTo>
                <a:cubicBezTo>
                  <a:pt x="57461" y="123269"/>
                  <a:pt x="53920" y="126811"/>
                  <a:pt x="49536" y="126811"/>
                </a:cubicBezTo>
                <a:lnTo>
                  <a:pt x="41610" y="126811"/>
                </a:lnTo>
                <a:cubicBezTo>
                  <a:pt x="34229" y="126811"/>
                  <a:pt x="28012" y="121759"/>
                  <a:pt x="26254" y="114923"/>
                </a:cubicBezTo>
                <a:cubicBezTo>
                  <a:pt x="26081" y="114923"/>
                  <a:pt x="25932" y="114923"/>
                  <a:pt x="25759" y="114923"/>
                </a:cubicBezTo>
                <a:cubicBezTo>
                  <a:pt x="14811" y="114923"/>
                  <a:pt x="5944" y="106056"/>
                  <a:pt x="5944" y="95108"/>
                </a:cubicBezTo>
                <a:cubicBezTo>
                  <a:pt x="5944" y="90650"/>
                  <a:pt x="7430" y="86539"/>
                  <a:pt x="9907" y="83220"/>
                </a:cubicBezTo>
                <a:cubicBezTo>
                  <a:pt x="5102" y="79604"/>
                  <a:pt x="1981" y="73858"/>
                  <a:pt x="1981" y="67368"/>
                </a:cubicBezTo>
                <a:cubicBezTo>
                  <a:pt x="1981" y="59715"/>
                  <a:pt x="6341" y="53053"/>
                  <a:pt x="12681" y="49759"/>
                </a:cubicBezTo>
                <a:cubicBezTo>
                  <a:pt x="10923" y="46786"/>
                  <a:pt x="9907" y="43319"/>
                  <a:pt x="9907" y="39629"/>
                </a:cubicBezTo>
                <a:cubicBezTo>
                  <a:pt x="9907" y="28681"/>
                  <a:pt x="18774" y="19814"/>
                  <a:pt x="29721" y="19814"/>
                </a:cubicBezTo>
                <a:lnTo>
                  <a:pt x="29721" y="13870"/>
                </a:lnTo>
                <a:close/>
                <a:moveTo>
                  <a:pt x="97090" y="13870"/>
                </a:moveTo>
                <a:lnTo>
                  <a:pt x="97090" y="19814"/>
                </a:lnTo>
                <a:cubicBezTo>
                  <a:pt x="108037" y="19814"/>
                  <a:pt x="116904" y="28681"/>
                  <a:pt x="116904" y="39629"/>
                </a:cubicBezTo>
                <a:cubicBezTo>
                  <a:pt x="116904" y="43344"/>
                  <a:pt x="115889" y="46811"/>
                  <a:pt x="114130" y="49759"/>
                </a:cubicBezTo>
                <a:cubicBezTo>
                  <a:pt x="120495" y="53053"/>
                  <a:pt x="124830" y="59690"/>
                  <a:pt x="124830" y="67368"/>
                </a:cubicBezTo>
                <a:cubicBezTo>
                  <a:pt x="124830" y="73858"/>
                  <a:pt x="121709" y="79604"/>
                  <a:pt x="116904" y="83220"/>
                </a:cubicBezTo>
                <a:cubicBezTo>
                  <a:pt x="119381" y="86539"/>
                  <a:pt x="120867" y="90650"/>
                  <a:pt x="120867" y="95108"/>
                </a:cubicBezTo>
                <a:cubicBezTo>
                  <a:pt x="120867" y="106056"/>
                  <a:pt x="112000" y="114923"/>
                  <a:pt x="101053" y="114923"/>
                </a:cubicBezTo>
                <a:cubicBezTo>
                  <a:pt x="100879" y="114923"/>
                  <a:pt x="100731" y="114923"/>
                  <a:pt x="100557" y="114923"/>
                </a:cubicBezTo>
                <a:cubicBezTo>
                  <a:pt x="98799" y="121759"/>
                  <a:pt x="92582" y="126811"/>
                  <a:pt x="85201" y="126811"/>
                </a:cubicBezTo>
                <a:lnTo>
                  <a:pt x="77276" y="126811"/>
                </a:lnTo>
                <a:cubicBezTo>
                  <a:pt x="72892" y="126811"/>
                  <a:pt x="69350" y="123269"/>
                  <a:pt x="69350" y="118886"/>
                </a:cubicBezTo>
                <a:lnTo>
                  <a:pt x="69350" y="7926"/>
                </a:lnTo>
                <a:cubicBezTo>
                  <a:pt x="69350" y="3542"/>
                  <a:pt x="72892" y="0"/>
                  <a:pt x="77276" y="0"/>
                </a:cubicBezTo>
                <a:lnTo>
                  <a:pt x="83220" y="0"/>
                </a:lnTo>
                <a:cubicBezTo>
                  <a:pt x="90873" y="0"/>
                  <a:pt x="97090" y="6217"/>
                  <a:pt x="97090" y="1387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765251" y="3701681"/>
            <a:ext cx="357789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Learning/AI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65251" y="3955303"/>
            <a:ext cx="3568832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predictive analytics, recommendation engines, or AI features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6701" y="4263273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50487" y="4344795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83220" y="87183"/>
                </a:moveTo>
                <a:cubicBezTo>
                  <a:pt x="107294" y="87183"/>
                  <a:pt x="126811" y="67666"/>
                  <a:pt x="126811" y="43591"/>
                </a:cubicBezTo>
                <a:cubicBezTo>
                  <a:pt x="126811" y="19517"/>
                  <a:pt x="107294" y="0"/>
                  <a:pt x="83220" y="0"/>
                </a:cubicBezTo>
                <a:cubicBezTo>
                  <a:pt x="59146" y="0"/>
                  <a:pt x="39629" y="19517"/>
                  <a:pt x="39629" y="43591"/>
                </a:cubicBezTo>
                <a:cubicBezTo>
                  <a:pt x="39629" y="48223"/>
                  <a:pt x="40347" y="52706"/>
                  <a:pt x="41684" y="56892"/>
                </a:cubicBezTo>
                <a:lnTo>
                  <a:pt x="1734" y="96842"/>
                </a:lnTo>
                <a:cubicBezTo>
                  <a:pt x="619" y="97957"/>
                  <a:pt x="0" y="99468"/>
                  <a:pt x="0" y="101053"/>
                </a:cubicBezTo>
                <a:lnTo>
                  <a:pt x="0" y="120867"/>
                </a:lnTo>
                <a:cubicBezTo>
                  <a:pt x="0" y="124161"/>
                  <a:pt x="2650" y="126811"/>
                  <a:pt x="5944" y="126811"/>
                </a:cubicBezTo>
                <a:lnTo>
                  <a:pt x="25759" y="126811"/>
                </a:lnTo>
                <a:cubicBezTo>
                  <a:pt x="29053" y="126811"/>
                  <a:pt x="31703" y="124161"/>
                  <a:pt x="31703" y="120867"/>
                </a:cubicBezTo>
                <a:lnTo>
                  <a:pt x="31703" y="110960"/>
                </a:lnTo>
                <a:lnTo>
                  <a:pt x="41610" y="110960"/>
                </a:lnTo>
                <a:cubicBezTo>
                  <a:pt x="44904" y="110960"/>
                  <a:pt x="47554" y="108310"/>
                  <a:pt x="47554" y="105016"/>
                </a:cubicBezTo>
                <a:lnTo>
                  <a:pt x="47554" y="95108"/>
                </a:lnTo>
                <a:lnTo>
                  <a:pt x="57461" y="95108"/>
                </a:lnTo>
                <a:cubicBezTo>
                  <a:pt x="59047" y="95108"/>
                  <a:pt x="60557" y="94489"/>
                  <a:pt x="61672" y="93375"/>
                </a:cubicBezTo>
                <a:lnTo>
                  <a:pt x="69920" y="85127"/>
                </a:lnTo>
                <a:cubicBezTo>
                  <a:pt x="74105" y="86464"/>
                  <a:pt x="78588" y="87183"/>
                  <a:pt x="83220" y="87183"/>
                </a:cubicBezTo>
                <a:close/>
                <a:moveTo>
                  <a:pt x="93127" y="23777"/>
                </a:moveTo>
                <a:cubicBezTo>
                  <a:pt x="98595" y="23777"/>
                  <a:pt x="103034" y="28216"/>
                  <a:pt x="103034" y="33684"/>
                </a:cubicBezTo>
                <a:cubicBezTo>
                  <a:pt x="103034" y="39152"/>
                  <a:pt x="98595" y="43591"/>
                  <a:pt x="93127" y="43591"/>
                </a:cubicBezTo>
                <a:cubicBezTo>
                  <a:pt x="87659" y="43591"/>
                  <a:pt x="83220" y="39152"/>
                  <a:pt x="83220" y="33684"/>
                </a:cubicBezTo>
                <a:cubicBezTo>
                  <a:pt x="83220" y="28216"/>
                  <a:pt x="87659" y="23777"/>
                  <a:pt x="93127" y="23777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65251" y="4245158"/>
            <a:ext cx="3768107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SSO Integration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65251" y="4498780"/>
            <a:ext cx="375904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integration with university single sign-on authentication systems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6701" y="4806750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66338" y="4888272"/>
            <a:ext cx="95108" cy="126811"/>
          </a:xfrm>
          <a:custGeom>
            <a:avLst/>
            <a:gdLst/>
            <a:ahLst/>
            <a:cxnLst/>
            <a:rect l="l" t="t" r="r" b="b"/>
            <a:pathLst>
              <a:path w="95108" h="126811">
                <a:moveTo>
                  <a:pt x="3963" y="15851"/>
                </a:moveTo>
                <a:cubicBezTo>
                  <a:pt x="3963" y="7108"/>
                  <a:pt x="11071" y="0"/>
                  <a:pt x="19814" y="0"/>
                </a:cubicBezTo>
                <a:lnTo>
                  <a:pt x="75294" y="0"/>
                </a:lnTo>
                <a:cubicBezTo>
                  <a:pt x="84037" y="0"/>
                  <a:pt x="91146" y="7108"/>
                  <a:pt x="91146" y="15851"/>
                </a:cubicBezTo>
                <a:lnTo>
                  <a:pt x="91146" y="110960"/>
                </a:lnTo>
                <a:cubicBezTo>
                  <a:pt x="91146" y="119703"/>
                  <a:pt x="84037" y="126811"/>
                  <a:pt x="75294" y="126811"/>
                </a:cubicBezTo>
                <a:lnTo>
                  <a:pt x="19814" y="126811"/>
                </a:lnTo>
                <a:cubicBezTo>
                  <a:pt x="11071" y="126811"/>
                  <a:pt x="3963" y="119703"/>
                  <a:pt x="3963" y="110960"/>
                </a:cubicBezTo>
                <a:lnTo>
                  <a:pt x="3963" y="15851"/>
                </a:lnTo>
                <a:close/>
                <a:moveTo>
                  <a:pt x="19814" y="15851"/>
                </a:moveTo>
                <a:lnTo>
                  <a:pt x="19814" y="91146"/>
                </a:lnTo>
                <a:lnTo>
                  <a:pt x="75294" y="91146"/>
                </a:lnTo>
                <a:lnTo>
                  <a:pt x="75294" y="15851"/>
                </a:lnTo>
                <a:lnTo>
                  <a:pt x="19814" y="15851"/>
                </a:lnTo>
                <a:close/>
                <a:moveTo>
                  <a:pt x="47554" y="116904"/>
                </a:moveTo>
                <a:cubicBezTo>
                  <a:pt x="51938" y="116904"/>
                  <a:pt x="55480" y="113362"/>
                  <a:pt x="55480" y="108978"/>
                </a:cubicBezTo>
                <a:cubicBezTo>
                  <a:pt x="55480" y="104595"/>
                  <a:pt x="51938" y="101053"/>
                  <a:pt x="47554" y="101053"/>
                </a:cubicBezTo>
                <a:cubicBezTo>
                  <a:pt x="43170" y="101053"/>
                  <a:pt x="39629" y="104595"/>
                  <a:pt x="39629" y="108978"/>
                </a:cubicBezTo>
                <a:cubicBezTo>
                  <a:pt x="39629" y="113362"/>
                  <a:pt x="43170" y="116904"/>
                  <a:pt x="47554" y="116904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65251" y="4788634"/>
            <a:ext cx="3487311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65251" y="5042257"/>
            <a:ext cx="347825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 interface only; no native mobile app development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66701" y="5350227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442561" y="5431749"/>
            <a:ext cx="142663" cy="126811"/>
          </a:xfrm>
          <a:custGeom>
            <a:avLst/>
            <a:gdLst/>
            <a:ahLst/>
            <a:cxnLst/>
            <a:rect l="l" t="t" r="r" b="b"/>
            <a:pathLst>
              <a:path w="142663" h="126811">
                <a:moveTo>
                  <a:pt x="0" y="83220"/>
                </a:moveTo>
                <a:cubicBezTo>
                  <a:pt x="0" y="102910"/>
                  <a:pt x="15975" y="118886"/>
                  <a:pt x="35666" y="118886"/>
                </a:cubicBezTo>
                <a:lnTo>
                  <a:pt x="110960" y="118886"/>
                </a:lnTo>
                <a:cubicBezTo>
                  <a:pt x="128471" y="118886"/>
                  <a:pt x="142663" y="104694"/>
                  <a:pt x="142663" y="87183"/>
                </a:cubicBezTo>
                <a:cubicBezTo>
                  <a:pt x="142663" y="74403"/>
                  <a:pt x="135109" y="63381"/>
                  <a:pt x="124211" y="58378"/>
                </a:cubicBezTo>
                <a:cubicBezTo>
                  <a:pt x="125870" y="55133"/>
                  <a:pt x="126811" y="51443"/>
                  <a:pt x="126811" y="47554"/>
                </a:cubicBezTo>
                <a:cubicBezTo>
                  <a:pt x="126811" y="34427"/>
                  <a:pt x="116161" y="23777"/>
                  <a:pt x="103034" y="23777"/>
                </a:cubicBezTo>
                <a:cubicBezTo>
                  <a:pt x="98650" y="23777"/>
                  <a:pt x="94564" y="24966"/>
                  <a:pt x="91047" y="27022"/>
                </a:cubicBezTo>
                <a:cubicBezTo>
                  <a:pt x="85077" y="15678"/>
                  <a:pt x="73164" y="7926"/>
                  <a:pt x="59443" y="7926"/>
                </a:cubicBezTo>
                <a:cubicBezTo>
                  <a:pt x="39752" y="7926"/>
                  <a:pt x="23777" y="23901"/>
                  <a:pt x="23777" y="43591"/>
                </a:cubicBezTo>
                <a:cubicBezTo>
                  <a:pt x="23777" y="45573"/>
                  <a:pt x="23950" y="47529"/>
                  <a:pt x="24248" y="49412"/>
                </a:cubicBezTo>
                <a:cubicBezTo>
                  <a:pt x="10155" y="54167"/>
                  <a:pt x="0" y="67517"/>
                  <a:pt x="0" y="8322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765251" y="5332111"/>
            <a:ext cx="350542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65251" y="5585734"/>
            <a:ext cx="349636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Localhost deployment only; no production cloud infrastructure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62318" y="6092979"/>
            <a:ext cx="11467364" cy="760868"/>
          </a:xfrm>
          <a:custGeom>
            <a:avLst/>
            <a:gdLst/>
            <a:ahLst/>
            <a:cxnLst/>
            <a:rect l="l" t="t" r="r" b="b"/>
            <a:pathLst>
              <a:path w="11467364" h="760868">
                <a:moveTo>
                  <a:pt x="72465" y="0"/>
                </a:moveTo>
                <a:lnTo>
                  <a:pt x="11394899" y="0"/>
                </a:lnTo>
                <a:cubicBezTo>
                  <a:pt x="11434920" y="0"/>
                  <a:pt x="11467364" y="32444"/>
                  <a:pt x="11467364" y="72465"/>
                </a:cubicBezTo>
                <a:lnTo>
                  <a:pt x="11467364" y="688403"/>
                </a:lnTo>
                <a:cubicBezTo>
                  <a:pt x="11467364" y="728424"/>
                  <a:pt x="11434920" y="760868"/>
                  <a:pt x="11394899" y="760868"/>
                </a:cubicBezTo>
                <a:lnTo>
                  <a:pt x="72465" y="760868"/>
                </a:lnTo>
                <a:cubicBezTo>
                  <a:pt x="32470" y="760868"/>
                  <a:pt x="0" y="728397"/>
                  <a:pt x="0" y="688403"/>
                </a:cubicBezTo>
                <a:lnTo>
                  <a:pt x="0" y="72465"/>
                </a:lnTo>
                <a:cubicBezTo>
                  <a:pt x="0" y="32470"/>
                  <a:pt x="32470" y="0"/>
                  <a:pt x="72465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20832" y="6364718"/>
            <a:ext cx="163043" cy="217391"/>
          </a:xfrm>
          <a:custGeom>
            <a:avLst/>
            <a:gdLst/>
            <a:ahLst/>
            <a:cxnLst/>
            <a:rect l="l" t="t" r="r" b="b"/>
            <a:pathLst>
              <a:path w="163043" h="217391">
                <a:moveTo>
                  <a:pt x="124363" y="163043"/>
                </a:moveTo>
                <a:cubicBezTo>
                  <a:pt x="127462" y="153575"/>
                  <a:pt x="133661" y="144998"/>
                  <a:pt x="140667" y="137610"/>
                </a:cubicBezTo>
                <a:cubicBezTo>
                  <a:pt x="154551" y="123004"/>
                  <a:pt x="163043" y="103261"/>
                  <a:pt x="163043" y="81522"/>
                </a:cubicBezTo>
                <a:cubicBezTo>
                  <a:pt x="163043" y="36515"/>
                  <a:pt x="126528" y="0"/>
                  <a:pt x="81522" y="0"/>
                </a:cubicBezTo>
                <a:cubicBezTo>
                  <a:pt x="36515" y="0"/>
                  <a:pt x="0" y="36515"/>
                  <a:pt x="0" y="81522"/>
                </a:cubicBezTo>
                <a:cubicBezTo>
                  <a:pt x="0" y="103261"/>
                  <a:pt x="8492" y="123004"/>
                  <a:pt x="22376" y="137610"/>
                </a:cubicBezTo>
                <a:cubicBezTo>
                  <a:pt x="29382" y="144998"/>
                  <a:pt x="35623" y="153575"/>
                  <a:pt x="38680" y="163043"/>
                </a:cubicBezTo>
                <a:lnTo>
                  <a:pt x="124320" y="163043"/>
                </a:lnTo>
                <a:close/>
                <a:moveTo>
                  <a:pt x="122282" y="183423"/>
                </a:moveTo>
                <a:lnTo>
                  <a:pt x="40761" y="183423"/>
                </a:lnTo>
                <a:lnTo>
                  <a:pt x="40761" y="190217"/>
                </a:lnTo>
                <a:cubicBezTo>
                  <a:pt x="40761" y="208984"/>
                  <a:pt x="55961" y="224184"/>
                  <a:pt x="74728" y="224184"/>
                </a:cubicBezTo>
                <a:lnTo>
                  <a:pt x="88315" y="224184"/>
                </a:lnTo>
                <a:cubicBezTo>
                  <a:pt x="107082" y="224184"/>
                  <a:pt x="122282" y="208984"/>
                  <a:pt x="122282" y="190217"/>
                </a:cubicBezTo>
                <a:lnTo>
                  <a:pt x="122282" y="183423"/>
                </a:lnTo>
                <a:close/>
                <a:moveTo>
                  <a:pt x="78125" y="47554"/>
                </a:moveTo>
                <a:cubicBezTo>
                  <a:pt x="61226" y="47554"/>
                  <a:pt x="47554" y="61226"/>
                  <a:pt x="47554" y="78125"/>
                </a:cubicBezTo>
                <a:cubicBezTo>
                  <a:pt x="47554" y="83772"/>
                  <a:pt x="43011" y="88315"/>
                  <a:pt x="37364" y="88315"/>
                </a:cubicBezTo>
                <a:cubicBezTo>
                  <a:pt x="31717" y="88315"/>
                  <a:pt x="27174" y="83772"/>
                  <a:pt x="27174" y="78125"/>
                </a:cubicBezTo>
                <a:cubicBezTo>
                  <a:pt x="27174" y="49974"/>
                  <a:pt x="49974" y="27174"/>
                  <a:pt x="78125" y="27174"/>
                </a:cubicBezTo>
                <a:cubicBezTo>
                  <a:pt x="83772" y="27174"/>
                  <a:pt x="88315" y="31717"/>
                  <a:pt x="88315" y="37364"/>
                </a:cubicBezTo>
                <a:cubicBezTo>
                  <a:pt x="88315" y="43011"/>
                  <a:pt x="83772" y="47554"/>
                  <a:pt x="78125" y="47554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44937" y="6237906"/>
            <a:ext cx="10905771" cy="47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1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r>
              <a:rPr lang="en-US" sz="114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Out-of-scope items represent valuable future enhancements but are excluded to ensure delivery of a fully functional core system within the 14-week academic timeline. These features can be added in subsequent development phases.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83" y="328183"/>
            <a:ext cx="115930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kern="0" spc="45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FEASIBILITY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183" y="557911"/>
            <a:ext cx="11683316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 Analysis: Four Dimensions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183" y="984549"/>
            <a:ext cx="787639" cy="32818"/>
          </a:xfrm>
          <a:custGeom>
            <a:avLst/>
            <a:gdLst/>
            <a:ahLst/>
            <a:cxnLst/>
            <a:rect l="l" t="t" r="r" b="b"/>
            <a:pathLst>
              <a:path w="787639" h="32818">
                <a:moveTo>
                  <a:pt x="0" y="0"/>
                </a:moveTo>
                <a:lnTo>
                  <a:pt x="787639" y="0"/>
                </a:lnTo>
                <a:lnTo>
                  <a:pt x="787639" y="32818"/>
                </a:lnTo>
                <a:lnTo>
                  <a:pt x="0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8183" y="916092"/>
            <a:ext cx="5635691" cy="3227219"/>
          </a:xfrm>
          <a:custGeom>
            <a:avLst/>
            <a:gdLst/>
            <a:ahLst/>
            <a:cxnLst/>
            <a:rect l="l" t="t" r="r" b="b"/>
            <a:pathLst>
              <a:path w="5685771" h="3339262">
                <a:moveTo>
                  <a:pt x="32818" y="0"/>
                </a:moveTo>
                <a:lnTo>
                  <a:pt x="5620121" y="0"/>
                </a:lnTo>
                <a:cubicBezTo>
                  <a:pt x="5656379" y="0"/>
                  <a:pt x="5685771" y="29392"/>
                  <a:pt x="5685771" y="65650"/>
                </a:cubicBezTo>
                <a:lnTo>
                  <a:pt x="5685771" y="3273613"/>
                </a:lnTo>
                <a:cubicBezTo>
                  <a:pt x="5685771" y="3309870"/>
                  <a:pt x="5656379" y="3339262"/>
                  <a:pt x="5620121" y="3339262"/>
                </a:cubicBezTo>
                <a:lnTo>
                  <a:pt x="32818" y="3339262"/>
                </a:lnTo>
                <a:cubicBezTo>
                  <a:pt x="14693" y="3339262"/>
                  <a:pt x="0" y="3324569"/>
                  <a:pt x="0" y="3306444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614" dist="820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8183" y="916093"/>
            <a:ext cx="32818" cy="3339262"/>
          </a:xfrm>
          <a:custGeom>
            <a:avLst/>
            <a:gdLst/>
            <a:ahLst/>
            <a:cxnLst/>
            <a:rect l="l" t="t" r="r" b="b"/>
            <a:pathLst>
              <a:path w="32818" h="3339262">
                <a:moveTo>
                  <a:pt x="32818" y="0"/>
                </a:moveTo>
                <a:lnTo>
                  <a:pt x="32818" y="0"/>
                </a:lnTo>
                <a:lnTo>
                  <a:pt x="32818" y="3339262"/>
                </a:lnTo>
                <a:lnTo>
                  <a:pt x="32818" y="3339262"/>
                </a:lnTo>
                <a:cubicBezTo>
                  <a:pt x="14693" y="3339262"/>
                  <a:pt x="0" y="3324569"/>
                  <a:pt x="0" y="3306444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8684" y="1080184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196910" y="0"/>
                </a:moveTo>
                <a:lnTo>
                  <a:pt x="196910" y="0"/>
                </a:lnTo>
                <a:cubicBezTo>
                  <a:pt x="305660" y="0"/>
                  <a:pt x="393820" y="88160"/>
                  <a:pt x="393820" y="196910"/>
                </a:cubicBezTo>
                <a:lnTo>
                  <a:pt x="393820" y="196910"/>
                </a:lnTo>
                <a:cubicBezTo>
                  <a:pt x="393820" y="305660"/>
                  <a:pt x="305660" y="393820"/>
                  <a:pt x="196910" y="393820"/>
                </a:cubicBezTo>
                <a:lnTo>
                  <a:pt x="196910" y="393820"/>
                </a:lnTo>
                <a:cubicBezTo>
                  <a:pt x="88160" y="393820"/>
                  <a:pt x="0" y="305660"/>
                  <a:pt x="0" y="196910"/>
                </a:cubicBezTo>
                <a:lnTo>
                  <a:pt x="0" y="196910"/>
                </a:lnTo>
                <a:cubicBezTo>
                  <a:pt x="0" y="88160"/>
                  <a:pt x="88160" y="0"/>
                  <a:pt x="19691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4315" y="1195049"/>
            <a:ext cx="102557" cy="164092"/>
          </a:xfrm>
          <a:custGeom>
            <a:avLst/>
            <a:gdLst/>
            <a:ahLst/>
            <a:cxnLst/>
            <a:rect l="l" t="t" r="r" b="b"/>
            <a:pathLst>
              <a:path w="102557" h="164092">
                <a:moveTo>
                  <a:pt x="43587" y="7692"/>
                </a:moveTo>
                <a:cubicBezTo>
                  <a:pt x="43587" y="3429"/>
                  <a:pt x="47016" y="0"/>
                  <a:pt x="51279" y="0"/>
                </a:cubicBezTo>
                <a:cubicBezTo>
                  <a:pt x="55541" y="0"/>
                  <a:pt x="58970" y="3429"/>
                  <a:pt x="58970" y="7692"/>
                </a:cubicBezTo>
                <a:lnTo>
                  <a:pt x="58970" y="20511"/>
                </a:lnTo>
                <a:lnTo>
                  <a:pt x="76918" y="20511"/>
                </a:lnTo>
                <a:cubicBezTo>
                  <a:pt x="82591" y="20511"/>
                  <a:pt x="87174" y="25094"/>
                  <a:pt x="87174" y="30767"/>
                </a:cubicBezTo>
                <a:cubicBezTo>
                  <a:pt x="87174" y="36440"/>
                  <a:pt x="82591" y="41023"/>
                  <a:pt x="76918" y="41023"/>
                </a:cubicBezTo>
                <a:lnTo>
                  <a:pt x="40093" y="41023"/>
                </a:lnTo>
                <a:cubicBezTo>
                  <a:pt x="32113" y="41023"/>
                  <a:pt x="25639" y="47497"/>
                  <a:pt x="25639" y="55477"/>
                </a:cubicBezTo>
                <a:cubicBezTo>
                  <a:pt x="25639" y="62688"/>
                  <a:pt x="30927" y="68777"/>
                  <a:pt x="38042" y="69803"/>
                </a:cubicBezTo>
                <a:lnTo>
                  <a:pt x="67399" y="74001"/>
                </a:lnTo>
                <a:cubicBezTo>
                  <a:pt x="84642" y="76469"/>
                  <a:pt x="97429" y="91212"/>
                  <a:pt x="97429" y="108614"/>
                </a:cubicBezTo>
                <a:cubicBezTo>
                  <a:pt x="97429" y="127940"/>
                  <a:pt x="81757" y="143580"/>
                  <a:pt x="62464" y="143580"/>
                </a:cubicBezTo>
                <a:lnTo>
                  <a:pt x="58970" y="143580"/>
                </a:lnTo>
                <a:lnTo>
                  <a:pt x="58970" y="156400"/>
                </a:lnTo>
                <a:cubicBezTo>
                  <a:pt x="58970" y="160662"/>
                  <a:pt x="55541" y="164092"/>
                  <a:pt x="51279" y="164092"/>
                </a:cubicBezTo>
                <a:cubicBezTo>
                  <a:pt x="47016" y="164092"/>
                  <a:pt x="43587" y="160662"/>
                  <a:pt x="43587" y="156400"/>
                </a:cubicBezTo>
                <a:lnTo>
                  <a:pt x="43587" y="143580"/>
                </a:lnTo>
                <a:lnTo>
                  <a:pt x="20511" y="143580"/>
                </a:lnTo>
                <a:cubicBezTo>
                  <a:pt x="14839" y="143580"/>
                  <a:pt x="10256" y="138997"/>
                  <a:pt x="10256" y="133324"/>
                </a:cubicBezTo>
                <a:cubicBezTo>
                  <a:pt x="10256" y="127652"/>
                  <a:pt x="14839" y="123069"/>
                  <a:pt x="20511" y="123069"/>
                </a:cubicBezTo>
                <a:lnTo>
                  <a:pt x="62464" y="123069"/>
                </a:lnTo>
                <a:cubicBezTo>
                  <a:pt x="70444" y="123069"/>
                  <a:pt x="76918" y="116595"/>
                  <a:pt x="76918" y="108614"/>
                </a:cubicBezTo>
                <a:cubicBezTo>
                  <a:pt x="76918" y="101403"/>
                  <a:pt x="71630" y="95314"/>
                  <a:pt x="64515" y="94289"/>
                </a:cubicBezTo>
                <a:lnTo>
                  <a:pt x="35158" y="90090"/>
                </a:lnTo>
                <a:cubicBezTo>
                  <a:pt x="17915" y="87654"/>
                  <a:pt x="5128" y="72880"/>
                  <a:pt x="5128" y="55477"/>
                </a:cubicBezTo>
                <a:cubicBezTo>
                  <a:pt x="5128" y="36183"/>
                  <a:pt x="20800" y="20511"/>
                  <a:pt x="40093" y="20511"/>
                </a:cubicBezTo>
                <a:lnTo>
                  <a:pt x="43587" y="20511"/>
                </a:lnTo>
                <a:lnTo>
                  <a:pt x="43587" y="76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0958" y="1162230"/>
            <a:ext cx="1575279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Feasibility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684" y="1572459"/>
            <a:ext cx="5406816" cy="81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is economically viable as it relies entirely on open-source technologies, eliminating licensing costs for the </a:t>
            </a:r>
            <a:r>
              <a:rPr lang="en-US" sz="1034" dirty="0" err="1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684" y="2485987"/>
            <a:ext cx="5341179" cy="361001"/>
          </a:xfrm>
          <a:custGeom>
            <a:avLst/>
            <a:gdLst/>
            <a:ahLst/>
            <a:cxnLst/>
            <a:rect l="l" t="t" r="r" b="b"/>
            <a:pathLst>
              <a:path w="5341179" h="361001">
                <a:moveTo>
                  <a:pt x="32819" y="0"/>
                </a:moveTo>
                <a:lnTo>
                  <a:pt x="5308360" y="0"/>
                </a:lnTo>
                <a:cubicBezTo>
                  <a:pt x="5326486" y="0"/>
                  <a:pt x="5341179" y="14693"/>
                  <a:pt x="5341179" y="32819"/>
                </a:cubicBezTo>
                <a:lnTo>
                  <a:pt x="5341179" y="328183"/>
                </a:lnTo>
                <a:cubicBezTo>
                  <a:pt x="5341179" y="346308"/>
                  <a:pt x="5326486" y="361001"/>
                  <a:pt x="5308360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4320" y="2584442"/>
            <a:ext cx="992754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Licensing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99282" y="2551624"/>
            <a:ext cx="26254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684" y="2912625"/>
            <a:ext cx="5341179" cy="361001"/>
          </a:xfrm>
          <a:custGeom>
            <a:avLst/>
            <a:gdLst/>
            <a:ahLst/>
            <a:cxnLst/>
            <a:rect l="l" t="t" r="r" b="b"/>
            <a:pathLst>
              <a:path w="5341179" h="361001">
                <a:moveTo>
                  <a:pt x="32819" y="0"/>
                </a:moveTo>
                <a:lnTo>
                  <a:pt x="5308360" y="0"/>
                </a:lnTo>
                <a:cubicBezTo>
                  <a:pt x="5326486" y="0"/>
                  <a:pt x="5341179" y="14693"/>
                  <a:pt x="5341179" y="32819"/>
                </a:cubicBezTo>
                <a:lnTo>
                  <a:pt x="5341179" y="328183"/>
                </a:lnTo>
                <a:cubicBezTo>
                  <a:pt x="5341179" y="346308"/>
                  <a:pt x="5326486" y="361001"/>
                  <a:pt x="5308360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320" y="3011080"/>
            <a:ext cx="861480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Costs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99282" y="2978262"/>
            <a:ext cx="26254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684" y="3339263"/>
            <a:ext cx="5341179" cy="361001"/>
          </a:xfrm>
          <a:custGeom>
            <a:avLst/>
            <a:gdLst/>
            <a:ahLst/>
            <a:cxnLst/>
            <a:rect l="l" t="t" r="r" b="b"/>
            <a:pathLst>
              <a:path w="5341179" h="361001">
                <a:moveTo>
                  <a:pt x="32819" y="0"/>
                </a:moveTo>
                <a:lnTo>
                  <a:pt x="5308360" y="0"/>
                </a:lnTo>
                <a:cubicBezTo>
                  <a:pt x="5326486" y="0"/>
                  <a:pt x="5341179" y="14693"/>
                  <a:pt x="5341179" y="32819"/>
                </a:cubicBezTo>
                <a:lnTo>
                  <a:pt x="5341179" y="328183"/>
                </a:lnTo>
                <a:cubicBezTo>
                  <a:pt x="5341179" y="346308"/>
                  <a:pt x="5326486" y="361001"/>
                  <a:pt x="5308360" y="361001"/>
                </a:cubicBezTo>
                <a:lnTo>
                  <a:pt x="32819" y="361001"/>
                </a:lnTo>
                <a:cubicBezTo>
                  <a:pt x="14693" y="361001"/>
                  <a:pt x="0" y="346308"/>
                  <a:pt x="0" y="328183"/>
                </a:cubicBezTo>
                <a:lnTo>
                  <a:pt x="0" y="32819"/>
                </a:lnTo>
                <a:cubicBezTo>
                  <a:pt x="0" y="14693"/>
                  <a:pt x="14693" y="0"/>
                  <a:pt x="32819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320" y="3437718"/>
            <a:ext cx="73020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99282" y="3404900"/>
            <a:ext cx="26254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684" y="3798719"/>
            <a:ext cx="5341179" cy="295365"/>
          </a:xfrm>
          <a:custGeom>
            <a:avLst/>
            <a:gdLst/>
            <a:ahLst/>
            <a:cxnLst/>
            <a:rect l="l" t="t" r="r" b="b"/>
            <a:pathLst>
              <a:path w="5341179" h="295365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262547"/>
                </a:lnTo>
                <a:cubicBezTo>
                  <a:pt x="5341179" y="280672"/>
                  <a:pt x="5326486" y="295365"/>
                  <a:pt x="5308361" y="295365"/>
                </a:cubicBezTo>
                <a:lnTo>
                  <a:pt x="32818" y="295365"/>
                </a:lnTo>
                <a:cubicBezTo>
                  <a:pt x="14705" y="295365"/>
                  <a:pt x="0" y="280659"/>
                  <a:pt x="0" y="262547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4320" y="3864356"/>
            <a:ext cx="526733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Technologies:</a:t>
            </a: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Python, MySQL, Streamlit/Tkinter (all open source)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1002" y="916093"/>
            <a:ext cx="5685771" cy="3339262"/>
          </a:xfrm>
          <a:custGeom>
            <a:avLst/>
            <a:gdLst/>
            <a:ahLst/>
            <a:cxnLst/>
            <a:rect l="l" t="t" r="r" b="b"/>
            <a:pathLst>
              <a:path w="5685771" h="3339262">
                <a:moveTo>
                  <a:pt x="32818" y="0"/>
                </a:moveTo>
                <a:lnTo>
                  <a:pt x="5620121" y="0"/>
                </a:lnTo>
                <a:cubicBezTo>
                  <a:pt x="5656379" y="0"/>
                  <a:pt x="5685771" y="29392"/>
                  <a:pt x="5685771" y="65650"/>
                </a:cubicBezTo>
                <a:lnTo>
                  <a:pt x="5685771" y="3273613"/>
                </a:lnTo>
                <a:cubicBezTo>
                  <a:pt x="5685771" y="3309870"/>
                  <a:pt x="5656379" y="3339262"/>
                  <a:pt x="5620121" y="3339262"/>
                </a:cubicBezTo>
                <a:lnTo>
                  <a:pt x="32818" y="3339262"/>
                </a:lnTo>
                <a:cubicBezTo>
                  <a:pt x="14693" y="3339262"/>
                  <a:pt x="0" y="3324569"/>
                  <a:pt x="0" y="3306444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614" dist="820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2492" y="916093"/>
            <a:ext cx="32818" cy="3339262"/>
          </a:xfrm>
          <a:custGeom>
            <a:avLst/>
            <a:gdLst/>
            <a:ahLst/>
            <a:cxnLst/>
            <a:rect l="l" t="t" r="r" b="b"/>
            <a:pathLst>
              <a:path w="32818" h="3339262">
                <a:moveTo>
                  <a:pt x="32818" y="0"/>
                </a:moveTo>
                <a:lnTo>
                  <a:pt x="32818" y="0"/>
                </a:lnTo>
                <a:lnTo>
                  <a:pt x="32818" y="3339262"/>
                </a:lnTo>
                <a:lnTo>
                  <a:pt x="32818" y="3339262"/>
                </a:lnTo>
                <a:cubicBezTo>
                  <a:pt x="14693" y="3339262"/>
                  <a:pt x="0" y="3324569"/>
                  <a:pt x="0" y="3306444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42992" y="1080184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196910" y="0"/>
                </a:moveTo>
                <a:lnTo>
                  <a:pt x="196910" y="0"/>
                </a:lnTo>
                <a:cubicBezTo>
                  <a:pt x="305660" y="0"/>
                  <a:pt x="393820" y="88160"/>
                  <a:pt x="393820" y="196910"/>
                </a:cubicBezTo>
                <a:lnTo>
                  <a:pt x="393820" y="196910"/>
                </a:lnTo>
                <a:cubicBezTo>
                  <a:pt x="393820" y="305660"/>
                  <a:pt x="305660" y="393820"/>
                  <a:pt x="196910" y="393820"/>
                </a:cubicBezTo>
                <a:lnTo>
                  <a:pt x="196910" y="393820"/>
                </a:lnTo>
                <a:cubicBezTo>
                  <a:pt x="88160" y="393820"/>
                  <a:pt x="0" y="305660"/>
                  <a:pt x="0" y="196910"/>
                </a:cubicBezTo>
                <a:lnTo>
                  <a:pt x="0" y="196910"/>
                </a:lnTo>
                <a:cubicBezTo>
                  <a:pt x="0" y="88160"/>
                  <a:pt x="88160" y="0"/>
                  <a:pt x="19691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68112" y="1195049"/>
            <a:ext cx="143580" cy="164092"/>
          </a:xfrm>
          <a:custGeom>
            <a:avLst/>
            <a:gdLst/>
            <a:ahLst/>
            <a:cxnLst/>
            <a:rect l="l" t="t" r="r" b="b"/>
            <a:pathLst>
              <a:path w="143580" h="164092">
                <a:moveTo>
                  <a:pt x="41023" y="0"/>
                </a:moveTo>
                <a:cubicBezTo>
                  <a:pt x="46696" y="0"/>
                  <a:pt x="51279" y="4583"/>
                  <a:pt x="51279" y="10256"/>
                </a:cubicBezTo>
                <a:lnTo>
                  <a:pt x="51279" y="20511"/>
                </a:lnTo>
                <a:lnTo>
                  <a:pt x="92301" y="20511"/>
                </a:lnTo>
                <a:lnTo>
                  <a:pt x="92301" y="10256"/>
                </a:lnTo>
                <a:cubicBezTo>
                  <a:pt x="92301" y="4583"/>
                  <a:pt x="96885" y="0"/>
                  <a:pt x="102557" y="0"/>
                </a:cubicBezTo>
                <a:cubicBezTo>
                  <a:pt x="108230" y="0"/>
                  <a:pt x="112813" y="4583"/>
                  <a:pt x="112813" y="10256"/>
                </a:cubicBezTo>
                <a:lnTo>
                  <a:pt x="112813" y="20511"/>
                </a:lnTo>
                <a:lnTo>
                  <a:pt x="123069" y="20511"/>
                </a:lnTo>
                <a:cubicBezTo>
                  <a:pt x="134382" y="20511"/>
                  <a:pt x="143580" y="29710"/>
                  <a:pt x="143580" y="41023"/>
                </a:cubicBezTo>
                <a:lnTo>
                  <a:pt x="143580" y="133324"/>
                </a:lnTo>
                <a:cubicBezTo>
                  <a:pt x="143580" y="144638"/>
                  <a:pt x="134382" y="153836"/>
                  <a:pt x="123069" y="153836"/>
                </a:cubicBezTo>
                <a:lnTo>
                  <a:pt x="20511" y="153836"/>
                </a:lnTo>
                <a:cubicBezTo>
                  <a:pt x="9198" y="153836"/>
                  <a:pt x="0" y="144638"/>
                  <a:pt x="0" y="133324"/>
                </a:cubicBezTo>
                <a:lnTo>
                  <a:pt x="0" y="41023"/>
                </a:lnTo>
                <a:cubicBezTo>
                  <a:pt x="0" y="29710"/>
                  <a:pt x="9198" y="20511"/>
                  <a:pt x="20511" y="20511"/>
                </a:cubicBezTo>
                <a:lnTo>
                  <a:pt x="30767" y="20511"/>
                </a:lnTo>
                <a:lnTo>
                  <a:pt x="30767" y="10256"/>
                </a:lnTo>
                <a:cubicBezTo>
                  <a:pt x="30767" y="4583"/>
                  <a:pt x="35350" y="0"/>
                  <a:pt x="41023" y="0"/>
                </a:cubicBezTo>
                <a:close/>
                <a:moveTo>
                  <a:pt x="20511" y="76918"/>
                </a:moveTo>
                <a:lnTo>
                  <a:pt x="20511" y="87174"/>
                </a:lnTo>
                <a:cubicBezTo>
                  <a:pt x="20511" y="89994"/>
                  <a:pt x="22819" y="92301"/>
                  <a:pt x="25639" y="92301"/>
                </a:cubicBezTo>
                <a:lnTo>
                  <a:pt x="35895" y="92301"/>
                </a:lnTo>
                <a:cubicBezTo>
                  <a:pt x="38715" y="92301"/>
                  <a:pt x="41023" y="89994"/>
                  <a:pt x="41023" y="87174"/>
                </a:cubicBezTo>
                <a:lnTo>
                  <a:pt x="41023" y="76918"/>
                </a:lnTo>
                <a:cubicBezTo>
                  <a:pt x="41023" y="74098"/>
                  <a:pt x="38715" y="71790"/>
                  <a:pt x="35895" y="71790"/>
                </a:cubicBezTo>
                <a:lnTo>
                  <a:pt x="25639" y="71790"/>
                </a:lnTo>
                <a:cubicBezTo>
                  <a:pt x="22819" y="71790"/>
                  <a:pt x="20511" y="74098"/>
                  <a:pt x="20511" y="76918"/>
                </a:cubicBezTo>
                <a:close/>
                <a:moveTo>
                  <a:pt x="61534" y="76918"/>
                </a:moveTo>
                <a:lnTo>
                  <a:pt x="61534" y="87174"/>
                </a:lnTo>
                <a:cubicBezTo>
                  <a:pt x="61534" y="89994"/>
                  <a:pt x="63842" y="92301"/>
                  <a:pt x="66662" y="92301"/>
                </a:cubicBezTo>
                <a:lnTo>
                  <a:pt x="76918" y="92301"/>
                </a:lnTo>
                <a:cubicBezTo>
                  <a:pt x="79738" y="92301"/>
                  <a:pt x="82046" y="89994"/>
                  <a:pt x="82046" y="87174"/>
                </a:cubicBezTo>
                <a:lnTo>
                  <a:pt x="82046" y="76918"/>
                </a:lnTo>
                <a:cubicBezTo>
                  <a:pt x="82046" y="74098"/>
                  <a:pt x="79738" y="71790"/>
                  <a:pt x="76918" y="71790"/>
                </a:cubicBezTo>
                <a:lnTo>
                  <a:pt x="66662" y="71790"/>
                </a:lnTo>
                <a:cubicBezTo>
                  <a:pt x="63842" y="71790"/>
                  <a:pt x="61534" y="74098"/>
                  <a:pt x="61534" y="76918"/>
                </a:cubicBezTo>
                <a:close/>
                <a:moveTo>
                  <a:pt x="107685" y="71790"/>
                </a:moveTo>
                <a:cubicBezTo>
                  <a:pt x="104865" y="71790"/>
                  <a:pt x="102557" y="74098"/>
                  <a:pt x="102557" y="76918"/>
                </a:cubicBezTo>
                <a:lnTo>
                  <a:pt x="102557" y="87174"/>
                </a:lnTo>
                <a:cubicBezTo>
                  <a:pt x="102557" y="89994"/>
                  <a:pt x="104865" y="92301"/>
                  <a:pt x="107685" y="92301"/>
                </a:cubicBezTo>
                <a:lnTo>
                  <a:pt x="117941" y="92301"/>
                </a:lnTo>
                <a:cubicBezTo>
                  <a:pt x="120761" y="92301"/>
                  <a:pt x="123069" y="89994"/>
                  <a:pt x="123069" y="87174"/>
                </a:cubicBezTo>
                <a:lnTo>
                  <a:pt x="123069" y="76918"/>
                </a:lnTo>
                <a:cubicBezTo>
                  <a:pt x="123069" y="74098"/>
                  <a:pt x="120761" y="71790"/>
                  <a:pt x="117941" y="71790"/>
                </a:cubicBezTo>
                <a:lnTo>
                  <a:pt x="107685" y="71790"/>
                </a:lnTo>
                <a:close/>
                <a:moveTo>
                  <a:pt x="20511" y="117941"/>
                </a:moveTo>
                <a:lnTo>
                  <a:pt x="20511" y="128197"/>
                </a:lnTo>
                <a:cubicBezTo>
                  <a:pt x="20511" y="131017"/>
                  <a:pt x="22819" y="133324"/>
                  <a:pt x="25639" y="133324"/>
                </a:cubicBezTo>
                <a:lnTo>
                  <a:pt x="35895" y="133324"/>
                </a:lnTo>
                <a:cubicBezTo>
                  <a:pt x="38715" y="133324"/>
                  <a:pt x="41023" y="131017"/>
                  <a:pt x="41023" y="128197"/>
                </a:cubicBezTo>
                <a:lnTo>
                  <a:pt x="41023" y="117941"/>
                </a:lnTo>
                <a:cubicBezTo>
                  <a:pt x="41023" y="115120"/>
                  <a:pt x="38715" y="112813"/>
                  <a:pt x="35895" y="112813"/>
                </a:cubicBezTo>
                <a:lnTo>
                  <a:pt x="25639" y="112813"/>
                </a:lnTo>
                <a:cubicBezTo>
                  <a:pt x="22819" y="112813"/>
                  <a:pt x="20511" y="115120"/>
                  <a:pt x="20511" y="117941"/>
                </a:cubicBezTo>
                <a:close/>
                <a:moveTo>
                  <a:pt x="66662" y="112813"/>
                </a:moveTo>
                <a:cubicBezTo>
                  <a:pt x="63842" y="112813"/>
                  <a:pt x="61534" y="115120"/>
                  <a:pt x="61534" y="117941"/>
                </a:cubicBezTo>
                <a:lnTo>
                  <a:pt x="61534" y="128197"/>
                </a:lnTo>
                <a:cubicBezTo>
                  <a:pt x="61534" y="131017"/>
                  <a:pt x="63842" y="133324"/>
                  <a:pt x="66662" y="133324"/>
                </a:cubicBezTo>
                <a:lnTo>
                  <a:pt x="76918" y="133324"/>
                </a:lnTo>
                <a:cubicBezTo>
                  <a:pt x="79738" y="133324"/>
                  <a:pt x="82046" y="131017"/>
                  <a:pt x="82046" y="128197"/>
                </a:cubicBezTo>
                <a:lnTo>
                  <a:pt x="82046" y="117941"/>
                </a:lnTo>
                <a:cubicBezTo>
                  <a:pt x="82046" y="115120"/>
                  <a:pt x="79738" y="112813"/>
                  <a:pt x="76918" y="112813"/>
                </a:cubicBezTo>
                <a:lnTo>
                  <a:pt x="66662" y="112813"/>
                </a:lnTo>
                <a:close/>
                <a:moveTo>
                  <a:pt x="102557" y="117941"/>
                </a:moveTo>
                <a:lnTo>
                  <a:pt x="102557" y="128197"/>
                </a:lnTo>
                <a:cubicBezTo>
                  <a:pt x="102557" y="131017"/>
                  <a:pt x="104865" y="133324"/>
                  <a:pt x="107685" y="133324"/>
                </a:cubicBezTo>
                <a:lnTo>
                  <a:pt x="117941" y="133324"/>
                </a:lnTo>
                <a:cubicBezTo>
                  <a:pt x="120761" y="133324"/>
                  <a:pt x="123069" y="131017"/>
                  <a:pt x="123069" y="128197"/>
                </a:cubicBezTo>
                <a:lnTo>
                  <a:pt x="123069" y="117941"/>
                </a:lnTo>
                <a:cubicBezTo>
                  <a:pt x="123069" y="115120"/>
                  <a:pt x="120761" y="112813"/>
                  <a:pt x="117941" y="112813"/>
                </a:cubicBezTo>
                <a:lnTo>
                  <a:pt x="107685" y="112813"/>
                </a:lnTo>
                <a:cubicBezTo>
                  <a:pt x="104865" y="112813"/>
                  <a:pt x="102557" y="115120"/>
                  <a:pt x="102557" y="1179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35267" y="1162230"/>
            <a:ext cx="152605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Feasibility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2992" y="1572459"/>
            <a:ext cx="5406816" cy="130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scope is strictly defined to ensure completion within the 14-week semester timeline with clearly allocated phases.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42992" y="2994671"/>
            <a:ext cx="76302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Duration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28825" y="2978262"/>
            <a:ext cx="62354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Weeks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2992" y="3257217"/>
            <a:ext cx="109941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Phases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62326" y="3240808"/>
            <a:ext cx="59072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Phases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42992" y="3519764"/>
            <a:ext cx="83686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59427" y="3503355"/>
            <a:ext cx="68918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Students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992" y="3798719"/>
            <a:ext cx="5341179" cy="295365"/>
          </a:xfrm>
          <a:custGeom>
            <a:avLst/>
            <a:gdLst/>
            <a:ahLst/>
            <a:cxnLst/>
            <a:rect l="l" t="t" r="r" b="b"/>
            <a:pathLst>
              <a:path w="5341179" h="295365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262547"/>
                </a:lnTo>
                <a:cubicBezTo>
                  <a:pt x="5341179" y="280672"/>
                  <a:pt x="5326486" y="295365"/>
                  <a:pt x="5308361" y="295365"/>
                </a:cubicBezTo>
                <a:lnTo>
                  <a:pt x="32818" y="295365"/>
                </a:lnTo>
                <a:cubicBezTo>
                  <a:pt x="14705" y="295365"/>
                  <a:pt x="0" y="280659"/>
                  <a:pt x="0" y="262547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8629" y="3864356"/>
            <a:ext cx="526733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Fully functional system by Week 14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9365" y="4070239"/>
            <a:ext cx="5685771" cy="2978261"/>
          </a:xfrm>
          <a:custGeom>
            <a:avLst/>
            <a:gdLst/>
            <a:ahLst/>
            <a:cxnLst/>
            <a:rect l="l" t="t" r="r" b="b"/>
            <a:pathLst>
              <a:path w="5685771" h="2978261">
                <a:moveTo>
                  <a:pt x="32818" y="0"/>
                </a:moveTo>
                <a:lnTo>
                  <a:pt x="5620130" y="0"/>
                </a:lnTo>
                <a:cubicBezTo>
                  <a:pt x="5656383" y="0"/>
                  <a:pt x="5685771" y="29388"/>
                  <a:pt x="5685771" y="65641"/>
                </a:cubicBezTo>
                <a:lnTo>
                  <a:pt x="5685771" y="2912620"/>
                </a:lnTo>
                <a:cubicBezTo>
                  <a:pt x="5685771" y="2948873"/>
                  <a:pt x="5656383" y="2978261"/>
                  <a:pt x="5620130" y="2978261"/>
                </a:cubicBez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614" dist="820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8183" y="4109210"/>
            <a:ext cx="32818" cy="2978261"/>
          </a:xfrm>
          <a:custGeom>
            <a:avLst/>
            <a:gdLst/>
            <a:ahLst/>
            <a:cxnLst/>
            <a:rect l="l" t="t" r="r" b="b"/>
            <a:pathLst>
              <a:path w="32818" h="2978261">
                <a:moveTo>
                  <a:pt x="32818" y="0"/>
                </a:moveTo>
                <a:lnTo>
                  <a:pt x="32818" y="0"/>
                </a:lnTo>
                <a:lnTo>
                  <a:pt x="32818" y="2978261"/>
                </a:ln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8684" y="4273301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196910" y="0"/>
                </a:moveTo>
                <a:lnTo>
                  <a:pt x="196910" y="0"/>
                </a:lnTo>
                <a:cubicBezTo>
                  <a:pt x="305660" y="0"/>
                  <a:pt x="393820" y="88160"/>
                  <a:pt x="393820" y="196910"/>
                </a:cubicBezTo>
                <a:lnTo>
                  <a:pt x="393820" y="196910"/>
                </a:lnTo>
                <a:cubicBezTo>
                  <a:pt x="393820" y="305660"/>
                  <a:pt x="305660" y="393820"/>
                  <a:pt x="196910" y="393820"/>
                </a:cubicBezTo>
                <a:lnTo>
                  <a:pt x="196910" y="393820"/>
                </a:lnTo>
                <a:cubicBezTo>
                  <a:pt x="88160" y="393820"/>
                  <a:pt x="0" y="305660"/>
                  <a:pt x="0" y="196910"/>
                </a:cubicBezTo>
                <a:lnTo>
                  <a:pt x="0" y="196910"/>
                </a:lnTo>
                <a:cubicBezTo>
                  <a:pt x="0" y="88160"/>
                  <a:pt x="88160" y="0"/>
                  <a:pt x="19691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036" y="4388166"/>
            <a:ext cx="205114" cy="164092"/>
          </a:xfrm>
          <a:custGeom>
            <a:avLst/>
            <a:gdLst/>
            <a:ahLst/>
            <a:cxnLst/>
            <a:rect l="l" t="t" r="r" b="b"/>
            <a:pathLst>
              <a:path w="205114" h="164092">
                <a:moveTo>
                  <a:pt x="133292" y="67463"/>
                </a:moveTo>
                <a:cubicBezTo>
                  <a:pt x="137202" y="66406"/>
                  <a:pt x="141305" y="68265"/>
                  <a:pt x="143067" y="71886"/>
                </a:cubicBezTo>
                <a:lnTo>
                  <a:pt x="149028" y="83937"/>
                </a:lnTo>
                <a:cubicBezTo>
                  <a:pt x="152329" y="84385"/>
                  <a:pt x="155566" y="85283"/>
                  <a:pt x="158611" y="86533"/>
                </a:cubicBezTo>
                <a:lnTo>
                  <a:pt x="169828" y="79065"/>
                </a:lnTo>
                <a:cubicBezTo>
                  <a:pt x="173193" y="76822"/>
                  <a:pt x="177648" y="77270"/>
                  <a:pt x="180501" y="80123"/>
                </a:cubicBezTo>
                <a:lnTo>
                  <a:pt x="186654" y="86276"/>
                </a:lnTo>
                <a:cubicBezTo>
                  <a:pt x="189506" y="89129"/>
                  <a:pt x="189955" y="93615"/>
                  <a:pt x="187712" y="96949"/>
                </a:cubicBezTo>
                <a:lnTo>
                  <a:pt x="180244" y="108134"/>
                </a:lnTo>
                <a:cubicBezTo>
                  <a:pt x="180853" y="109640"/>
                  <a:pt x="181398" y="111210"/>
                  <a:pt x="181847" y="112845"/>
                </a:cubicBezTo>
                <a:cubicBezTo>
                  <a:pt x="182295" y="114479"/>
                  <a:pt x="182584" y="116082"/>
                  <a:pt x="182808" y="117716"/>
                </a:cubicBezTo>
                <a:lnTo>
                  <a:pt x="194891" y="123678"/>
                </a:lnTo>
                <a:cubicBezTo>
                  <a:pt x="198512" y="125472"/>
                  <a:pt x="200371" y="129575"/>
                  <a:pt x="199314" y="133453"/>
                </a:cubicBezTo>
                <a:lnTo>
                  <a:pt x="197070" y="141849"/>
                </a:lnTo>
                <a:cubicBezTo>
                  <a:pt x="196012" y="145727"/>
                  <a:pt x="192391" y="148355"/>
                  <a:pt x="188353" y="148099"/>
                </a:cubicBezTo>
                <a:lnTo>
                  <a:pt x="174892" y="147234"/>
                </a:lnTo>
                <a:cubicBezTo>
                  <a:pt x="172873" y="149830"/>
                  <a:pt x="170533" y="152233"/>
                  <a:pt x="167873" y="154284"/>
                </a:cubicBezTo>
                <a:lnTo>
                  <a:pt x="168739" y="167713"/>
                </a:lnTo>
                <a:cubicBezTo>
                  <a:pt x="168995" y="171751"/>
                  <a:pt x="166367" y="175405"/>
                  <a:pt x="162489" y="176430"/>
                </a:cubicBezTo>
                <a:lnTo>
                  <a:pt x="154092" y="178674"/>
                </a:lnTo>
                <a:cubicBezTo>
                  <a:pt x="150182" y="179731"/>
                  <a:pt x="146112" y="177873"/>
                  <a:pt x="144317" y="174251"/>
                </a:cubicBezTo>
                <a:lnTo>
                  <a:pt x="138356" y="162201"/>
                </a:lnTo>
                <a:cubicBezTo>
                  <a:pt x="135055" y="161752"/>
                  <a:pt x="131818" y="160855"/>
                  <a:pt x="128773" y="159605"/>
                </a:cubicBezTo>
                <a:lnTo>
                  <a:pt x="117556" y="167072"/>
                </a:lnTo>
                <a:cubicBezTo>
                  <a:pt x="114191" y="169316"/>
                  <a:pt x="109736" y="168867"/>
                  <a:pt x="106884" y="166014"/>
                </a:cubicBezTo>
                <a:lnTo>
                  <a:pt x="100730" y="159861"/>
                </a:lnTo>
                <a:cubicBezTo>
                  <a:pt x="97878" y="157009"/>
                  <a:pt x="97429" y="152554"/>
                  <a:pt x="99673" y="149189"/>
                </a:cubicBezTo>
                <a:lnTo>
                  <a:pt x="107140" y="137971"/>
                </a:lnTo>
                <a:cubicBezTo>
                  <a:pt x="106531" y="136465"/>
                  <a:pt x="105986" y="134895"/>
                  <a:pt x="105538" y="133260"/>
                </a:cubicBezTo>
                <a:cubicBezTo>
                  <a:pt x="105089" y="131626"/>
                  <a:pt x="104801" y="129991"/>
                  <a:pt x="104576" y="128389"/>
                </a:cubicBezTo>
                <a:lnTo>
                  <a:pt x="92494" y="122428"/>
                </a:lnTo>
                <a:cubicBezTo>
                  <a:pt x="88872" y="120633"/>
                  <a:pt x="87045" y="116531"/>
                  <a:pt x="88071" y="112653"/>
                </a:cubicBezTo>
                <a:lnTo>
                  <a:pt x="90314" y="104256"/>
                </a:lnTo>
                <a:cubicBezTo>
                  <a:pt x="91372" y="100378"/>
                  <a:pt x="94994" y="97750"/>
                  <a:pt x="99032" y="98006"/>
                </a:cubicBezTo>
                <a:lnTo>
                  <a:pt x="112460" y="98872"/>
                </a:lnTo>
                <a:cubicBezTo>
                  <a:pt x="114479" y="96276"/>
                  <a:pt x="116819" y="93872"/>
                  <a:pt x="119479" y="91821"/>
                </a:cubicBezTo>
                <a:lnTo>
                  <a:pt x="118614" y="78424"/>
                </a:lnTo>
                <a:cubicBezTo>
                  <a:pt x="118357" y="74386"/>
                  <a:pt x="120985" y="70732"/>
                  <a:pt x="124863" y="69707"/>
                </a:cubicBezTo>
                <a:lnTo>
                  <a:pt x="133260" y="67463"/>
                </a:lnTo>
                <a:close/>
                <a:moveTo>
                  <a:pt x="143708" y="108967"/>
                </a:moveTo>
                <a:cubicBezTo>
                  <a:pt x="135925" y="108976"/>
                  <a:pt x="129614" y="115302"/>
                  <a:pt x="129623" y="123085"/>
                </a:cubicBezTo>
                <a:cubicBezTo>
                  <a:pt x="129632" y="130868"/>
                  <a:pt x="135957" y="137179"/>
                  <a:pt x="143740" y="137170"/>
                </a:cubicBezTo>
                <a:cubicBezTo>
                  <a:pt x="151523" y="137161"/>
                  <a:pt x="157835" y="130836"/>
                  <a:pt x="157826" y="123053"/>
                </a:cubicBezTo>
                <a:cubicBezTo>
                  <a:pt x="157817" y="115270"/>
                  <a:pt x="151491" y="108958"/>
                  <a:pt x="143708" y="108967"/>
                </a:cubicBezTo>
                <a:close/>
                <a:moveTo>
                  <a:pt x="72078" y="-14582"/>
                </a:moveTo>
                <a:lnTo>
                  <a:pt x="80475" y="-12339"/>
                </a:lnTo>
                <a:cubicBezTo>
                  <a:pt x="84353" y="-11281"/>
                  <a:pt x="86981" y="-7628"/>
                  <a:pt x="86725" y="-3622"/>
                </a:cubicBezTo>
                <a:lnTo>
                  <a:pt x="85860" y="9775"/>
                </a:lnTo>
                <a:cubicBezTo>
                  <a:pt x="88520" y="11826"/>
                  <a:pt x="90859" y="14198"/>
                  <a:pt x="92878" y="16826"/>
                </a:cubicBezTo>
                <a:lnTo>
                  <a:pt x="106339" y="15960"/>
                </a:lnTo>
                <a:cubicBezTo>
                  <a:pt x="110345" y="15704"/>
                  <a:pt x="113999" y="18332"/>
                  <a:pt x="115056" y="22210"/>
                </a:cubicBezTo>
                <a:lnTo>
                  <a:pt x="117300" y="30607"/>
                </a:lnTo>
                <a:cubicBezTo>
                  <a:pt x="118325" y="34485"/>
                  <a:pt x="116499" y="38587"/>
                  <a:pt x="112877" y="40382"/>
                </a:cubicBezTo>
                <a:lnTo>
                  <a:pt x="100794" y="46343"/>
                </a:lnTo>
                <a:cubicBezTo>
                  <a:pt x="100570" y="47978"/>
                  <a:pt x="100250" y="49612"/>
                  <a:pt x="99833" y="51215"/>
                </a:cubicBezTo>
                <a:cubicBezTo>
                  <a:pt x="99416" y="52817"/>
                  <a:pt x="98840" y="54419"/>
                  <a:pt x="98231" y="55926"/>
                </a:cubicBezTo>
                <a:lnTo>
                  <a:pt x="105698" y="67143"/>
                </a:lnTo>
                <a:cubicBezTo>
                  <a:pt x="107941" y="70508"/>
                  <a:pt x="107493" y="74963"/>
                  <a:pt x="104640" y="77815"/>
                </a:cubicBezTo>
                <a:lnTo>
                  <a:pt x="98487" y="83969"/>
                </a:lnTo>
                <a:cubicBezTo>
                  <a:pt x="95635" y="86821"/>
                  <a:pt x="91180" y="87270"/>
                  <a:pt x="87815" y="85026"/>
                </a:cubicBezTo>
                <a:lnTo>
                  <a:pt x="76597" y="77559"/>
                </a:lnTo>
                <a:cubicBezTo>
                  <a:pt x="73553" y="78809"/>
                  <a:pt x="70316" y="79706"/>
                  <a:pt x="67015" y="80155"/>
                </a:cubicBezTo>
                <a:lnTo>
                  <a:pt x="61054" y="92205"/>
                </a:lnTo>
                <a:cubicBezTo>
                  <a:pt x="59259" y="95827"/>
                  <a:pt x="55157" y="97654"/>
                  <a:pt x="51279" y="96628"/>
                </a:cubicBezTo>
                <a:lnTo>
                  <a:pt x="42882" y="94385"/>
                </a:lnTo>
                <a:cubicBezTo>
                  <a:pt x="38972" y="93327"/>
                  <a:pt x="36376" y="89673"/>
                  <a:pt x="36632" y="85667"/>
                </a:cubicBezTo>
                <a:lnTo>
                  <a:pt x="37497" y="72239"/>
                </a:lnTo>
                <a:cubicBezTo>
                  <a:pt x="34837" y="70188"/>
                  <a:pt x="32498" y="67816"/>
                  <a:pt x="30479" y="65188"/>
                </a:cubicBezTo>
                <a:lnTo>
                  <a:pt x="17018" y="66053"/>
                </a:lnTo>
                <a:cubicBezTo>
                  <a:pt x="13012" y="66310"/>
                  <a:pt x="9358" y="63682"/>
                  <a:pt x="8301" y="59804"/>
                </a:cubicBezTo>
                <a:lnTo>
                  <a:pt x="6057" y="51407"/>
                </a:lnTo>
                <a:cubicBezTo>
                  <a:pt x="5032" y="47529"/>
                  <a:pt x="6859" y="43427"/>
                  <a:pt x="10480" y="41632"/>
                </a:cubicBezTo>
                <a:lnTo>
                  <a:pt x="22563" y="35671"/>
                </a:lnTo>
                <a:cubicBezTo>
                  <a:pt x="22787" y="34036"/>
                  <a:pt x="23107" y="32434"/>
                  <a:pt x="23524" y="30799"/>
                </a:cubicBezTo>
                <a:cubicBezTo>
                  <a:pt x="23973" y="29165"/>
                  <a:pt x="24486" y="27594"/>
                  <a:pt x="25127" y="26088"/>
                </a:cubicBezTo>
                <a:lnTo>
                  <a:pt x="17659" y="14903"/>
                </a:lnTo>
                <a:cubicBezTo>
                  <a:pt x="15416" y="11538"/>
                  <a:pt x="15864" y="7083"/>
                  <a:pt x="18717" y="4230"/>
                </a:cubicBezTo>
                <a:lnTo>
                  <a:pt x="24870" y="-1923"/>
                </a:lnTo>
                <a:cubicBezTo>
                  <a:pt x="27722" y="-4775"/>
                  <a:pt x="32177" y="-5224"/>
                  <a:pt x="35542" y="-2981"/>
                </a:cubicBezTo>
                <a:lnTo>
                  <a:pt x="46760" y="4487"/>
                </a:lnTo>
                <a:cubicBezTo>
                  <a:pt x="49804" y="3237"/>
                  <a:pt x="53041" y="2340"/>
                  <a:pt x="56342" y="1891"/>
                </a:cubicBezTo>
                <a:lnTo>
                  <a:pt x="62303" y="-10160"/>
                </a:lnTo>
                <a:cubicBezTo>
                  <a:pt x="64098" y="-13781"/>
                  <a:pt x="68168" y="-15608"/>
                  <a:pt x="72078" y="-14582"/>
                </a:cubicBezTo>
                <a:close/>
                <a:moveTo>
                  <a:pt x="61663" y="26921"/>
                </a:moveTo>
                <a:cubicBezTo>
                  <a:pt x="53880" y="26921"/>
                  <a:pt x="47561" y="33240"/>
                  <a:pt x="47561" y="41023"/>
                </a:cubicBezTo>
                <a:cubicBezTo>
                  <a:pt x="47561" y="48806"/>
                  <a:pt x="53880" y="55124"/>
                  <a:pt x="61663" y="55124"/>
                </a:cubicBezTo>
                <a:cubicBezTo>
                  <a:pt x="69445" y="55124"/>
                  <a:pt x="75764" y="48806"/>
                  <a:pt x="75764" y="41023"/>
                </a:cubicBezTo>
                <a:cubicBezTo>
                  <a:pt x="75764" y="33240"/>
                  <a:pt x="69445" y="26921"/>
                  <a:pt x="61663" y="269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0958" y="4355347"/>
            <a:ext cx="155066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8684" y="4765576"/>
            <a:ext cx="5406816" cy="81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team possesses required skills in Python and SQL. The Three-Tier architecture is standard and well-documented, minimizing technical risk.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5093" y="5703718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7901" y="5679104"/>
            <a:ext cx="159168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programming expertise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5093" y="5933446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7901" y="5908832"/>
            <a:ext cx="135375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database design skills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5093" y="6163174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7901" y="6138561"/>
            <a:ext cx="1575279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development experience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5093" y="6392902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901" y="6368289"/>
            <a:ext cx="177218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management knowledge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8684" y="6630835"/>
            <a:ext cx="5341179" cy="295365"/>
          </a:xfrm>
          <a:custGeom>
            <a:avLst/>
            <a:gdLst/>
            <a:ahLst/>
            <a:cxnLst/>
            <a:rect l="l" t="t" r="r" b="b"/>
            <a:pathLst>
              <a:path w="5341179" h="295365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262547"/>
                </a:lnTo>
                <a:cubicBezTo>
                  <a:pt x="5341179" y="280672"/>
                  <a:pt x="5326486" y="295365"/>
                  <a:pt x="5308361" y="295365"/>
                </a:cubicBezTo>
                <a:lnTo>
                  <a:pt x="32818" y="295365"/>
                </a:lnTo>
                <a:cubicBezTo>
                  <a:pt x="14705" y="295365"/>
                  <a:pt x="0" y="280659"/>
                  <a:pt x="0" y="262547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C5A56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4320" y="6696472"/>
            <a:ext cx="526733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Level:</a:t>
            </a: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- Proven technologies and architecture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2492" y="4109210"/>
            <a:ext cx="5685771" cy="2978261"/>
          </a:xfrm>
          <a:custGeom>
            <a:avLst/>
            <a:gdLst/>
            <a:ahLst/>
            <a:cxnLst/>
            <a:rect l="l" t="t" r="r" b="b"/>
            <a:pathLst>
              <a:path w="5685771" h="2978261">
                <a:moveTo>
                  <a:pt x="32818" y="0"/>
                </a:moveTo>
                <a:lnTo>
                  <a:pt x="5620130" y="0"/>
                </a:lnTo>
                <a:cubicBezTo>
                  <a:pt x="5656383" y="0"/>
                  <a:pt x="5685771" y="29388"/>
                  <a:pt x="5685771" y="65641"/>
                </a:cubicBezTo>
                <a:lnTo>
                  <a:pt x="5685771" y="2912620"/>
                </a:lnTo>
                <a:cubicBezTo>
                  <a:pt x="5685771" y="2948873"/>
                  <a:pt x="5656383" y="2978261"/>
                  <a:pt x="5620130" y="2978261"/>
                </a:cubicBez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614" dist="820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62492" y="4109210"/>
            <a:ext cx="32818" cy="2978261"/>
          </a:xfrm>
          <a:custGeom>
            <a:avLst/>
            <a:gdLst/>
            <a:ahLst/>
            <a:cxnLst/>
            <a:rect l="l" t="t" r="r" b="b"/>
            <a:pathLst>
              <a:path w="32818" h="2978261">
                <a:moveTo>
                  <a:pt x="32818" y="0"/>
                </a:moveTo>
                <a:lnTo>
                  <a:pt x="32818" y="0"/>
                </a:lnTo>
                <a:lnTo>
                  <a:pt x="32818" y="2978261"/>
                </a:ln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42992" y="4273301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196910" y="0"/>
                </a:moveTo>
                <a:lnTo>
                  <a:pt x="196910" y="0"/>
                </a:lnTo>
                <a:cubicBezTo>
                  <a:pt x="305660" y="0"/>
                  <a:pt x="393820" y="88160"/>
                  <a:pt x="393820" y="196910"/>
                </a:cubicBezTo>
                <a:lnTo>
                  <a:pt x="393820" y="196910"/>
                </a:lnTo>
                <a:cubicBezTo>
                  <a:pt x="393820" y="305660"/>
                  <a:pt x="305660" y="393820"/>
                  <a:pt x="196910" y="393820"/>
                </a:cubicBezTo>
                <a:lnTo>
                  <a:pt x="196910" y="393820"/>
                </a:lnTo>
                <a:cubicBezTo>
                  <a:pt x="88160" y="393820"/>
                  <a:pt x="0" y="305660"/>
                  <a:pt x="0" y="196910"/>
                </a:cubicBezTo>
                <a:lnTo>
                  <a:pt x="0" y="196910"/>
                </a:lnTo>
                <a:cubicBezTo>
                  <a:pt x="0" y="88160"/>
                  <a:pt x="88160" y="0"/>
                  <a:pt x="19691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37345" y="4388166"/>
            <a:ext cx="205114" cy="164092"/>
          </a:xfrm>
          <a:custGeom>
            <a:avLst/>
            <a:gdLst/>
            <a:ahLst/>
            <a:cxnLst/>
            <a:rect l="l" t="t" r="r" b="b"/>
            <a:pathLst>
              <a:path w="205114" h="164092">
                <a:moveTo>
                  <a:pt x="102557" y="5128"/>
                </a:moveTo>
                <a:cubicBezTo>
                  <a:pt x="120953" y="5128"/>
                  <a:pt x="135888" y="20063"/>
                  <a:pt x="135888" y="38459"/>
                </a:cubicBezTo>
                <a:cubicBezTo>
                  <a:pt x="135888" y="56855"/>
                  <a:pt x="120953" y="71790"/>
                  <a:pt x="102557" y="71790"/>
                </a:cubicBezTo>
                <a:cubicBezTo>
                  <a:pt x="84161" y="71790"/>
                  <a:pt x="69226" y="56855"/>
                  <a:pt x="69226" y="38459"/>
                </a:cubicBezTo>
                <a:cubicBezTo>
                  <a:pt x="69226" y="20063"/>
                  <a:pt x="84161" y="5128"/>
                  <a:pt x="102557" y="5128"/>
                </a:cubicBezTo>
                <a:close/>
                <a:moveTo>
                  <a:pt x="30767" y="28203"/>
                </a:moveTo>
                <a:cubicBezTo>
                  <a:pt x="43503" y="28203"/>
                  <a:pt x="53843" y="38543"/>
                  <a:pt x="53843" y="51279"/>
                </a:cubicBezTo>
                <a:cubicBezTo>
                  <a:pt x="53843" y="64014"/>
                  <a:pt x="43503" y="74354"/>
                  <a:pt x="30767" y="74354"/>
                </a:cubicBezTo>
                <a:cubicBezTo>
                  <a:pt x="18032" y="74354"/>
                  <a:pt x="7692" y="64014"/>
                  <a:pt x="7692" y="51279"/>
                </a:cubicBezTo>
                <a:cubicBezTo>
                  <a:pt x="7692" y="38543"/>
                  <a:pt x="18032" y="28203"/>
                  <a:pt x="30767" y="28203"/>
                </a:cubicBezTo>
                <a:close/>
                <a:moveTo>
                  <a:pt x="0" y="133324"/>
                </a:moveTo>
                <a:cubicBezTo>
                  <a:pt x="0" y="110666"/>
                  <a:pt x="18364" y="92301"/>
                  <a:pt x="41023" y="92301"/>
                </a:cubicBezTo>
                <a:cubicBezTo>
                  <a:pt x="45125" y="92301"/>
                  <a:pt x="49099" y="92910"/>
                  <a:pt x="52849" y="94032"/>
                </a:cubicBezTo>
                <a:cubicBezTo>
                  <a:pt x="42305" y="105826"/>
                  <a:pt x="35895" y="121402"/>
                  <a:pt x="35895" y="138452"/>
                </a:cubicBezTo>
                <a:lnTo>
                  <a:pt x="35895" y="143580"/>
                </a:lnTo>
                <a:cubicBezTo>
                  <a:pt x="35895" y="147234"/>
                  <a:pt x="36664" y="150695"/>
                  <a:pt x="38042" y="153836"/>
                </a:cubicBezTo>
                <a:lnTo>
                  <a:pt x="10256" y="153836"/>
                </a:lnTo>
                <a:cubicBezTo>
                  <a:pt x="4583" y="153836"/>
                  <a:pt x="0" y="149253"/>
                  <a:pt x="0" y="143580"/>
                </a:cubicBezTo>
                <a:lnTo>
                  <a:pt x="0" y="133324"/>
                </a:lnTo>
                <a:close/>
                <a:moveTo>
                  <a:pt x="167072" y="153836"/>
                </a:moveTo>
                <a:cubicBezTo>
                  <a:pt x="168450" y="150695"/>
                  <a:pt x="169219" y="147234"/>
                  <a:pt x="169219" y="143580"/>
                </a:cubicBezTo>
                <a:lnTo>
                  <a:pt x="169219" y="138452"/>
                </a:lnTo>
                <a:cubicBezTo>
                  <a:pt x="169219" y="121402"/>
                  <a:pt x="162810" y="105826"/>
                  <a:pt x="152265" y="94032"/>
                </a:cubicBezTo>
                <a:cubicBezTo>
                  <a:pt x="156015" y="92910"/>
                  <a:pt x="159989" y="92301"/>
                  <a:pt x="164092" y="92301"/>
                </a:cubicBezTo>
                <a:cubicBezTo>
                  <a:pt x="186750" y="92301"/>
                  <a:pt x="205114" y="110666"/>
                  <a:pt x="205114" y="133324"/>
                </a:cubicBezTo>
                <a:lnTo>
                  <a:pt x="205114" y="143580"/>
                </a:lnTo>
                <a:cubicBezTo>
                  <a:pt x="205114" y="149253"/>
                  <a:pt x="200531" y="153836"/>
                  <a:pt x="194859" y="153836"/>
                </a:cubicBezTo>
                <a:lnTo>
                  <a:pt x="167072" y="153836"/>
                </a:lnTo>
                <a:close/>
                <a:moveTo>
                  <a:pt x="151272" y="51279"/>
                </a:moveTo>
                <a:cubicBezTo>
                  <a:pt x="151272" y="38543"/>
                  <a:pt x="161612" y="28203"/>
                  <a:pt x="174347" y="28203"/>
                </a:cubicBezTo>
                <a:cubicBezTo>
                  <a:pt x="187083" y="28203"/>
                  <a:pt x="197423" y="38543"/>
                  <a:pt x="197423" y="51279"/>
                </a:cubicBezTo>
                <a:cubicBezTo>
                  <a:pt x="197423" y="64014"/>
                  <a:pt x="187083" y="74354"/>
                  <a:pt x="174347" y="74354"/>
                </a:cubicBezTo>
                <a:cubicBezTo>
                  <a:pt x="161612" y="74354"/>
                  <a:pt x="151272" y="64014"/>
                  <a:pt x="151272" y="51279"/>
                </a:cubicBezTo>
                <a:close/>
                <a:moveTo>
                  <a:pt x="51279" y="138452"/>
                </a:moveTo>
                <a:cubicBezTo>
                  <a:pt x="51279" y="110121"/>
                  <a:pt x="74226" y="87174"/>
                  <a:pt x="102557" y="87174"/>
                </a:cubicBezTo>
                <a:cubicBezTo>
                  <a:pt x="130889" y="87174"/>
                  <a:pt x="153836" y="110121"/>
                  <a:pt x="153836" y="138452"/>
                </a:cubicBezTo>
                <a:lnTo>
                  <a:pt x="153836" y="143580"/>
                </a:lnTo>
                <a:cubicBezTo>
                  <a:pt x="153836" y="149253"/>
                  <a:pt x="149253" y="153836"/>
                  <a:pt x="143580" y="153836"/>
                </a:cubicBezTo>
                <a:lnTo>
                  <a:pt x="61534" y="153836"/>
                </a:lnTo>
                <a:cubicBezTo>
                  <a:pt x="55862" y="153836"/>
                  <a:pt x="51279" y="149253"/>
                  <a:pt x="51279" y="143580"/>
                </a:cubicBezTo>
                <a:lnTo>
                  <a:pt x="51279" y="13845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35267" y="4355347"/>
            <a:ext cx="1690143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Feasibility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42992" y="4765576"/>
            <a:ext cx="5406816" cy="81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mimics existing manual workflows (filling out forms, checking lists), ensuring a low learning curve for Career Center staff.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9401" y="5703718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2209" y="5679104"/>
            <a:ext cx="138657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Familiar workflow patterns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9401" y="5933446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2209" y="5908832"/>
            <a:ext cx="115684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user interface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59401" y="6163174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2209" y="6138561"/>
            <a:ext cx="1378369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59401" y="6392902"/>
            <a:ext cx="114864" cy="114864"/>
          </a:xfrm>
          <a:custGeom>
            <a:avLst/>
            <a:gdLst/>
            <a:ahLst/>
            <a:cxnLst/>
            <a:rect l="l" t="t" r="r" b="b"/>
            <a:pathLst>
              <a:path w="114864" h="114864">
                <a:moveTo>
                  <a:pt x="57432" y="114864"/>
                </a:moveTo>
                <a:cubicBezTo>
                  <a:pt x="89130" y="114864"/>
                  <a:pt x="114864" y="89130"/>
                  <a:pt x="114864" y="57432"/>
                </a:cubicBezTo>
                <a:cubicBezTo>
                  <a:pt x="114864" y="25734"/>
                  <a:pt x="89130" y="0"/>
                  <a:pt x="57432" y="0"/>
                </a:cubicBezTo>
                <a:cubicBezTo>
                  <a:pt x="25734" y="0"/>
                  <a:pt x="0" y="25734"/>
                  <a:pt x="0" y="57432"/>
                </a:cubicBezTo>
                <a:cubicBezTo>
                  <a:pt x="0" y="89130"/>
                  <a:pt x="25734" y="114864"/>
                  <a:pt x="57432" y="114864"/>
                </a:cubicBezTo>
                <a:close/>
                <a:moveTo>
                  <a:pt x="76367" y="47718"/>
                </a:moveTo>
                <a:lnTo>
                  <a:pt x="58419" y="76434"/>
                </a:lnTo>
                <a:cubicBezTo>
                  <a:pt x="57477" y="77937"/>
                  <a:pt x="55862" y="78879"/>
                  <a:pt x="54089" y="78969"/>
                </a:cubicBezTo>
                <a:cubicBezTo>
                  <a:pt x="52317" y="79059"/>
                  <a:pt x="50612" y="78251"/>
                  <a:pt x="49558" y="76815"/>
                </a:cubicBezTo>
                <a:lnTo>
                  <a:pt x="38789" y="62457"/>
                </a:lnTo>
                <a:cubicBezTo>
                  <a:pt x="36994" y="60079"/>
                  <a:pt x="37488" y="56714"/>
                  <a:pt x="39866" y="54919"/>
                </a:cubicBezTo>
                <a:cubicBezTo>
                  <a:pt x="42244" y="53125"/>
                  <a:pt x="45609" y="53618"/>
                  <a:pt x="47404" y="55996"/>
                </a:cubicBezTo>
                <a:lnTo>
                  <a:pt x="53461" y="64073"/>
                </a:lnTo>
                <a:lnTo>
                  <a:pt x="67236" y="42020"/>
                </a:lnTo>
                <a:cubicBezTo>
                  <a:pt x="68806" y="39507"/>
                  <a:pt x="72127" y="38722"/>
                  <a:pt x="74662" y="40315"/>
                </a:cubicBezTo>
                <a:cubicBezTo>
                  <a:pt x="77197" y="41907"/>
                  <a:pt x="77959" y="45205"/>
                  <a:pt x="76367" y="4774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2209" y="6368289"/>
            <a:ext cx="129632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training required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2992" y="6630835"/>
            <a:ext cx="5341179" cy="295365"/>
          </a:xfrm>
          <a:custGeom>
            <a:avLst/>
            <a:gdLst/>
            <a:ahLst/>
            <a:cxnLst/>
            <a:rect l="l" t="t" r="r" b="b"/>
            <a:pathLst>
              <a:path w="5341179" h="295365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262547"/>
                </a:lnTo>
                <a:cubicBezTo>
                  <a:pt x="5341179" y="280672"/>
                  <a:pt x="5326486" y="295365"/>
                  <a:pt x="5308361" y="295365"/>
                </a:cubicBezTo>
                <a:lnTo>
                  <a:pt x="32818" y="295365"/>
                </a:lnTo>
                <a:cubicBezTo>
                  <a:pt x="14705" y="295365"/>
                  <a:pt x="0" y="280659"/>
                  <a:pt x="0" y="262547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08629" y="6696472"/>
            <a:ext cx="5267338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Adoption Rate:</a:t>
            </a:r>
            <a:r>
              <a:rPr lang="en-US" sz="904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- Mirrors current processes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49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IMPLEMENTATION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04268"/>
            <a:ext cx="1164105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9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14-Week Development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452" y="1066356"/>
            <a:ext cx="853085" cy="35545"/>
          </a:xfrm>
          <a:custGeom>
            <a:avLst/>
            <a:gdLst/>
            <a:ahLst/>
            <a:cxnLst/>
            <a:rect l="l" t="t" r="r" b="b"/>
            <a:pathLst>
              <a:path w="853085" h="35545">
                <a:moveTo>
                  <a:pt x="0" y="0"/>
                </a:moveTo>
                <a:lnTo>
                  <a:pt x="853085" y="0"/>
                </a:lnTo>
                <a:lnTo>
                  <a:pt x="853085" y="35545"/>
                </a:lnTo>
                <a:lnTo>
                  <a:pt x="0" y="35545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5452" y="1279627"/>
            <a:ext cx="6922426" cy="4709738"/>
          </a:xfrm>
          <a:custGeom>
            <a:avLst/>
            <a:gdLst/>
            <a:ahLst/>
            <a:cxnLst/>
            <a:rect l="l" t="t" r="r" b="b"/>
            <a:pathLst>
              <a:path w="6922426" h="4709738">
                <a:moveTo>
                  <a:pt x="71070" y="0"/>
                </a:moveTo>
                <a:lnTo>
                  <a:pt x="6851356" y="0"/>
                </a:lnTo>
                <a:cubicBezTo>
                  <a:pt x="6890607" y="0"/>
                  <a:pt x="6922426" y="31819"/>
                  <a:pt x="6922426" y="71070"/>
                </a:cubicBezTo>
                <a:lnTo>
                  <a:pt x="6922426" y="4638668"/>
                </a:lnTo>
                <a:cubicBezTo>
                  <a:pt x="6922426" y="4677919"/>
                  <a:pt x="6890607" y="4709738"/>
                  <a:pt x="6851356" y="4709738"/>
                </a:cubicBezTo>
                <a:lnTo>
                  <a:pt x="71070" y="4709738"/>
                </a:lnTo>
                <a:cubicBezTo>
                  <a:pt x="31819" y="4709738"/>
                  <a:pt x="0" y="4677919"/>
                  <a:pt x="0" y="4638668"/>
                </a:cubicBezTo>
                <a:lnTo>
                  <a:pt x="0" y="71070"/>
                </a:lnTo>
                <a:cubicBezTo>
                  <a:pt x="0" y="31845"/>
                  <a:pt x="31845" y="0"/>
                  <a:pt x="710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659" dist="888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178" y="1457353"/>
            <a:ext cx="6646950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 Overview</a:t>
            </a:r>
            <a:endParaRPr lang="en-US" sz="1600" dirty="0"/>
          </a:p>
        </p:txBody>
      </p:sp>
      <p:pic>
        <p:nvPicPr>
          <p:cNvPr id="7" name="Image 0" descr="https://kimi-img.moonshot.cn/pub/slides/26-01-29-10:17:00-d5tc67701qmbfs4rglc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178" y="1848350"/>
            <a:ext cx="6078227" cy="3732245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459677" y="1279627"/>
            <a:ext cx="4380945" cy="1066356"/>
          </a:xfrm>
          <a:custGeom>
            <a:avLst/>
            <a:gdLst/>
            <a:ahLst/>
            <a:cxnLst/>
            <a:rect l="l" t="t" r="r" b="b"/>
            <a:pathLst>
              <a:path w="4380945" h="1066356">
                <a:moveTo>
                  <a:pt x="71094" y="0"/>
                </a:moveTo>
                <a:lnTo>
                  <a:pt x="4309851" y="0"/>
                </a:lnTo>
                <a:cubicBezTo>
                  <a:pt x="4349115" y="0"/>
                  <a:pt x="4380945" y="31830"/>
                  <a:pt x="4380945" y="71094"/>
                </a:cubicBezTo>
                <a:lnTo>
                  <a:pt x="4380945" y="995262"/>
                </a:lnTo>
                <a:cubicBezTo>
                  <a:pt x="4380945" y="1034526"/>
                  <a:pt x="4349115" y="1066356"/>
                  <a:pt x="4309851" y="1066356"/>
                </a:cubicBezTo>
                <a:lnTo>
                  <a:pt x="71094" y="1066356"/>
                </a:lnTo>
                <a:cubicBezTo>
                  <a:pt x="31830" y="1066356"/>
                  <a:pt x="0" y="1034526"/>
                  <a:pt x="0" y="995262"/>
                </a:cubicBezTo>
                <a:lnTo>
                  <a:pt x="0" y="71094"/>
                </a:lnTo>
                <a:cubicBezTo>
                  <a:pt x="0" y="31856"/>
                  <a:pt x="31856" y="0"/>
                  <a:pt x="71094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01858" y="1457353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70755" y="1457353"/>
            <a:ext cx="34656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92855" y="1421808"/>
            <a:ext cx="16617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 &amp; Proposal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92855" y="1635079"/>
            <a:ext cx="1643965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01858" y="1848350"/>
            <a:ext cx="41587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scope definition, stakeholder analysis, proposal documentation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01858" y="2061621"/>
            <a:ext cx="4149901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84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Proposal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59677" y="2452618"/>
            <a:ext cx="4380945" cy="1066356"/>
          </a:xfrm>
          <a:custGeom>
            <a:avLst/>
            <a:gdLst/>
            <a:ahLst/>
            <a:cxnLst/>
            <a:rect l="l" t="t" r="r" b="b"/>
            <a:pathLst>
              <a:path w="4380945" h="1066356">
                <a:moveTo>
                  <a:pt x="71094" y="0"/>
                </a:moveTo>
                <a:lnTo>
                  <a:pt x="4309851" y="0"/>
                </a:lnTo>
                <a:cubicBezTo>
                  <a:pt x="4349115" y="0"/>
                  <a:pt x="4380945" y="31830"/>
                  <a:pt x="4380945" y="71094"/>
                </a:cubicBezTo>
                <a:lnTo>
                  <a:pt x="4380945" y="995262"/>
                </a:lnTo>
                <a:cubicBezTo>
                  <a:pt x="4380945" y="1034526"/>
                  <a:pt x="4349115" y="1066356"/>
                  <a:pt x="4309851" y="1066356"/>
                </a:cubicBezTo>
                <a:lnTo>
                  <a:pt x="71094" y="1066356"/>
                </a:lnTo>
                <a:cubicBezTo>
                  <a:pt x="31830" y="1066356"/>
                  <a:pt x="0" y="1034526"/>
                  <a:pt x="0" y="995262"/>
                </a:cubicBezTo>
                <a:lnTo>
                  <a:pt x="0" y="71094"/>
                </a:lnTo>
                <a:cubicBezTo>
                  <a:pt x="0" y="31856"/>
                  <a:pt x="31856" y="0"/>
                  <a:pt x="71094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01858" y="2630344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70755" y="2630344"/>
            <a:ext cx="34656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2855" y="2594799"/>
            <a:ext cx="18394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 &amp; Planning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92855" y="2808070"/>
            <a:ext cx="1821691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4-5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01858" y="3021341"/>
            <a:ext cx="41587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ERD development, schema design, project planning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01858" y="3234612"/>
            <a:ext cx="4149901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Plan &amp; ERD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59677" y="3625609"/>
            <a:ext cx="4380945" cy="1066356"/>
          </a:xfrm>
          <a:custGeom>
            <a:avLst/>
            <a:gdLst/>
            <a:ahLst/>
            <a:cxnLst/>
            <a:rect l="l" t="t" r="r" b="b"/>
            <a:pathLst>
              <a:path w="4380945" h="1066356">
                <a:moveTo>
                  <a:pt x="71094" y="0"/>
                </a:moveTo>
                <a:lnTo>
                  <a:pt x="4309851" y="0"/>
                </a:lnTo>
                <a:cubicBezTo>
                  <a:pt x="4349115" y="0"/>
                  <a:pt x="4380945" y="31830"/>
                  <a:pt x="4380945" y="71094"/>
                </a:cubicBezTo>
                <a:lnTo>
                  <a:pt x="4380945" y="995262"/>
                </a:lnTo>
                <a:cubicBezTo>
                  <a:pt x="4380945" y="1034526"/>
                  <a:pt x="4349115" y="1066356"/>
                  <a:pt x="4309851" y="1066356"/>
                </a:cubicBezTo>
                <a:lnTo>
                  <a:pt x="71094" y="1066356"/>
                </a:lnTo>
                <a:cubicBezTo>
                  <a:pt x="31830" y="1066356"/>
                  <a:pt x="0" y="1034526"/>
                  <a:pt x="0" y="995262"/>
                </a:cubicBezTo>
                <a:lnTo>
                  <a:pt x="0" y="71094"/>
                </a:lnTo>
                <a:cubicBezTo>
                  <a:pt x="0" y="31856"/>
                  <a:pt x="31856" y="0"/>
                  <a:pt x="71094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601858" y="3803335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70755" y="3803335"/>
            <a:ext cx="34656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992855" y="3767790"/>
            <a:ext cx="12440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Development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92855" y="3981061"/>
            <a:ext cx="1226309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6-7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01858" y="4194332"/>
            <a:ext cx="41587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implementation, authentication system development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01858" y="4407603"/>
            <a:ext cx="4149901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Functional Login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59677" y="4798601"/>
            <a:ext cx="4380945" cy="1066356"/>
          </a:xfrm>
          <a:custGeom>
            <a:avLst/>
            <a:gdLst/>
            <a:ahLst/>
            <a:cxnLst/>
            <a:rect l="l" t="t" r="r" b="b"/>
            <a:pathLst>
              <a:path w="4380945" h="1066356">
                <a:moveTo>
                  <a:pt x="71094" y="0"/>
                </a:moveTo>
                <a:lnTo>
                  <a:pt x="4309851" y="0"/>
                </a:lnTo>
                <a:cubicBezTo>
                  <a:pt x="4349115" y="0"/>
                  <a:pt x="4380945" y="31830"/>
                  <a:pt x="4380945" y="71094"/>
                </a:cubicBezTo>
                <a:lnTo>
                  <a:pt x="4380945" y="995262"/>
                </a:lnTo>
                <a:cubicBezTo>
                  <a:pt x="4380945" y="1034526"/>
                  <a:pt x="4349115" y="1066356"/>
                  <a:pt x="4309851" y="1066356"/>
                </a:cubicBezTo>
                <a:lnTo>
                  <a:pt x="71094" y="1066356"/>
                </a:lnTo>
                <a:cubicBezTo>
                  <a:pt x="31830" y="1066356"/>
                  <a:pt x="0" y="1034526"/>
                  <a:pt x="0" y="995262"/>
                </a:cubicBezTo>
                <a:lnTo>
                  <a:pt x="0" y="71094"/>
                </a:lnTo>
                <a:cubicBezTo>
                  <a:pt x="0" y="31856"/>
                  <a:pt x="31856" y="0"/>
                  <a:pt x="71094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601858" y="4976327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lnTo>
                  <a:pt x="142181" y="0"/>
                </a:lnTo>
                <a:cubicBezTo>
                  <a:pt x="220652" y="0"/>
                  <a:pt x="284362" y="63709"/>
                  <a:pt x="284362" y="142181"/>
                </a:cubicBezTo>
                <a:lnTo>
                  <a:pt x="284362" y="142181"/>
                </a:lnTo>
                <a:cubicBezTo>
                  <a:pt x="284362" y="220652"/>
                  <a:pt x="220652" y="284362"/>
                  <a:pt x="142181" y="284362"/>
                </a:cubicBezTo>
                <a:lnTo>
                  <a:pt x="142181" y="284362"/>
                </a:lnTo>
                <a:cubicBezTo>
                  <a:pt x="63709" y="284362"/>
                  <a:pt x="0" y="220652"/>
                  <a:pt x="0" y="142181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70755" y="4976327"/>
            <a:ext cx="34656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992855" y="4940781"/>
            <a:ext cx="14129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Development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992855" y="5154052"/>
            <a:ext cx="1395149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8-10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601858" y="5367324"/>
            <a:ext cx="41587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and advisor module implementation, form development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01858" y="5580595"/>
            <a:ext cx="4149901" cy="14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84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Forms &amp; Logic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55452" y="6134231"/>
            <a:ext cx="5669458" cy="675359"/>
          </a:xfrm>
          <a:custGeom>
            <a:avLst/>
            <a:gdLst/>
            <a:ahLst/>
            <a:cxnLst/>
            <a:rect l="l" t="t" r="r" b="b"/>
            <a:pathLst>
              <a:path w="5669458" h="675359">
                <a:moveTo>
                  <a:pt x="71088" y="0"/>
                </a:moveTo>
                <a:lnTo>
                  <a:pt x="5598369" y="0"/>
                </a:lnTo>
                <a:cubicBezTo>
                  <a:pt x="5637630" y="0"/>
                  <a:pt x="5669458" y="31827"/>
                  <a:pt x="5669458" y="71088"/>
                </a:cubicBezTo>
                <a:lnTo>
                  <a:pt x="5669458" y="604270"/>
                </a:lnTo>
                <a:cubicBezTo>
                  <a:pt x="5669458" y="643531"/>
                  <a:pt x="5637630" y="675359"/>
                  <a:pt x="5598369" y="675359"/>
                </a:cubicBezTo>
                <a:lnTo>
                  <a:pt x="71088" y="675359"/>
                </a:lnTo>
                <a:cubicBezTo>
                  <a:pt x="31827" y="675359"/>
                  <a:pt x="0" y="643531"/>
                  <a:pt x="0" y="604270"/>
                </a:cubicBezTo>
                <a:lnTo>
                  <a:pt x="0" y="71088"/>
                </a:lnTo>
                <a:cubicBezTo>
                  <a:pt x="0" y="31827"/>
                  <a:pt x="31827" y="0"/>
                  <a:pt x="71088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97633" y="6294184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644" y="6294184"/>
            <a:ext cx="435429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9" b="1" dirty="0">
                <a:solidFill>
                  <a:srgbClr val="5A7A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95265" y="6276412"/>
            <a:ext cx="49585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Reporting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95265" y="6489683"/>
            <a:ext cx="494966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11-12 | </a:t>
            </a:r>
            <a:r>
              <a:rPr lang="en-US" sz="98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98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Reports &amp; Dashboard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69034" y="6134231"/>
            <a:ext cx="5669458" cy="675359"/>
          </a:xfrm>
          <a:custGeom>
            <a:avLst/>
            <a:gdLst/>
            <a:ahLst/>
            <a:cxnLst/>
            <a:rect l="l" t="t" r="r" b="b"/>
            <a:pathLst>
              <a:path w="5669458" h="675359">
                <a:moveTo>
                  <a:pt x="71088" y="0"/>
                </a:moveTo>
                <a:lnTo>
                  <a:pt x="5598369" y="0"/>
                </a:lnTo>
                <a:cubicBezTo>
                  <a:pt x="5637630" y="0"/>
                  <a:pt x="5669458" y="31827"/>
                  <a:pt x="5669458" y="71088"/>
                </a:cubicBezTo>
                <a:lnTo>
                  <a:pt x="5669458" y="604270"/>
                </a:lnTo>
                <a:cubicBezTo>
                  <a:pt x="5669458" y="643531"/>
                  <a:pt x="5637630" y="675359"/>
                  <a:pt x="5598369" y="675359"/>
                </a:cubicBezTo>
                <a:lnTo>
                  <a:pt x="71088" y="675359"/>
                </a:lnTo>
                <a:cubicBezTo>
                  <a:pt x="31827" y="675359"/>
                  <a:pt x="0" y="643531"/>
                  <a:pt x="0" y="604270"/>
                </a:cubicBezTo>
                <a:lnTo>
                  <a:pt x="0" y="71088"/>
                </a:lnTo>
                <a:cubicBezTo>
                  <a:pt x="0" y="31827"/>
                  <a:pt x="31827" y="0"/>
                  <a:pt x="71088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311215" y="6294184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271227" y="6294184"/>
            <a:ext cx="435429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9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808848" y="6276412"/>
            <a:ext cx="49585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Documentation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808848" y="6489683"/>
            <a:ext cx="494966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13-14 | </a:t>
            </a:r>
            <a:r>
              <a:rPr lang="en-US" sz="98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</a:t>
            </a:r>
            <a:r>
              <a:rPr lang="en-US" sz="98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Final Presentation</a:t>
            </a:r>
            <a:endParaRPr lang="en-US" sz="16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FBB3CCE-D120-A687-33E9-F23377E68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3" y="1919440"/>
            <a:ext cx="6286965" cy="37160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4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EXPECTED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4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 &amp; Value Proposition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4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7500" y="1158879"/>
            <a:ext cx="5699125" cy="2841625"/>
          </a:xfrm>
          <a:custGeom>
            <a:avLst/>
            <a:gdLst/>
            <a:ahLst/>
            <a:cxnLst/>
            <a:rect l="l" t="t" r="r" b="b"/>
            <a:pathLst>
              <a:path w="5699125" h="2841625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2778115"/>
                </a:lnTo>
                <a:cubicBezTo>
                  <a:pt x="5699125" y="2813190"/>
                  <a:pt x="5670690" y="2841625"/>
                  <a:pt x="5635615" y="2841625"/>
                </a:cubicBezTo>
                <a:lnTo>
                  <a:pt x="63510" y="2841625"/>
                </a:lnTo>
                <a:cubicBezTo>
                  <a:pt x="28435" y="2841625"/>
                  <a:pt x="0" y="2813190"/>
                  <a:pt x="0" y="277811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7500" y="1158879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7500" y="2002900"/>
            <a:ext cx="5699125" cy="5292"/>
          </a:xfrm>
          <a:custGeom>
            <a:avLst/>
            <a:gdLst/>
            <a:ahLst/>
            <a:cxnLst/>
            <a:rect l="l" t="t" r="r" b="b"/>
            <a:pathLst>
              <a:path w="5699125" h="5292">
                <a:moveTo>
                  <a:pt x="0" y="0"/>
                </a:moveTo>
                <a:lnTo>
                  <a:pt x="5699125" y="0"/>
                </a:lnTo>
                <a:lnTo>
                  <a:pt x="569912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6250" y="133350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5156" y="146050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6000" y="1349379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1603379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Career Readiness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6094" y="228533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0094" y="2253587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Streamlined Application Tracking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0094" y="2475837"/>
            <a:ext cx="4468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platform to manage all job/internship applications with status updates and notes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094" y="284501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0094" y="2813266"/>
            <a:ext cx="465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Organization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0094" y="3035516"/>
            <a:ext cx="464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scattered spreadsheets and emails; maintain complete application history in one place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6094" y="340469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0094" y="3372945"/>
            <a:ext cx="446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Career Readiness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0094" y="3595195"/>
            <a:ext cx="446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approach to job searching increases success rates and professional development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7500" y="4144945"/>
            <a:ext cx="5699125" cy="2841625"/>
          </a:xfrm>
          <a:custGeom>
            <a:avLst/>
            <a:gdLst/>
            <a:ahLst/>
            <a:cxnLst/>
            <a:rect l="l" t="t" r="r" b="b"/>
            <a:pathLst>
              <a:path w="5699125" h="2841625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2778115"/>
                </a:lnTo>
                <a:cubicBezTo>
                  <a:pt x="5699125" y="2813190"/>
                  <a:pt x="5670690" y="2841625"/>
                  <a:pt x="5635615" y="2841625"/>
                </a:cubicBezTo>
                <a:lnTo>
                  <a:pt x="63510" y="2841625"/>
                </a:lnTo>
                <a:cubicBezTo>
                  <a:pt x="28435" y="2841625"/>
                  <a:pt x="0" y="2813190"/>
                  <a:pt x="0" y="277811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7500" y="414494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7500" y="4988966"/>
            <a:ext cx="5699125" cy="5292"/>
          </a:xfrm>
          <a:custGeom>
            <a:avLst/>
            <a:gdLst/>
            <a:ahLst/>
            <a:cxnLst/>
            <a:rect l="l" t="t" r="r" b="b"/>
            <a:pathLst>
              <a:path w="5699125" h="5292">
                <a:moveTo>
                  <a:pt x="0" y="0"/>
                </a:moveTo>
                <a:lnTo>
                  <a:pt x="5699125" y="0"/>
                </a:lnTo>
                <a:lnTo>
                  <a:pt x="569912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6250" y="431957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9438" y="44465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6000" y="4335445"/>
            <a:ext cx="1658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Advisors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4589445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Advising Effectiveness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6094" y="527141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0094" y="5239661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Visibility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0094" y="5461911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view of all assigned students' application statuses and progress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6094" y="58310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0094" y="5799340"/>
            <a:ext cx="420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Timely Interventions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0094" y="6021590"/>
            <a:ext cx="4198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students who are under-applying or stuck in the process for proactive support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6094" y="639076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A7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0094" y="6359011"/>
            <a:ext cx="401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Effective Advising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094" y="6581261"/>
            <a:ext cx="400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 enable personalized guidance and targeted recommendations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5375" y="1158879"/>
            <a:ext cx="5699125" cy="5826125"/>
          </a:xfrm>
          <a:custGeom>
            <a:avLst/>
            <a:gdLst/>
            <a:ahLst/>
            <a:cxnLst/>
            <a:rect l="l" t="t" r="r" b="b"/>
            <a:pathLst>
              <a:path w="5699125" h="582612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5762637"/>
                </a:lnTo>
                <a:cubicBezTo>
                  <a:pt x="5699125" y="5797700"/>
                  <a:pt x="5670700" y="5826125"/>
                  <a:pt x="5635637" y="5826125"/>
                </a:cubicBezTo>
                <a:lnTo>
                  <a:pt x="63488" y="5826125"/>
                </a:lnTo>
                <a:cubicBezTo>
                  <a:pt x="28425" y="5826125"/>
                  <a:pt x="0" y="5797700"/>
                  <a:pt x="0" y="576263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5375" y="1158879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75375" y="2002900"/>
            <a:ext cx="5699125" cy="5292"/>
          </a:xfrm>
          <a:custGeom>
            <a:avLst/>
            <a:gdLst/>
            <a:ahLst/>
            <a:cxnLst/>
            <a:rect l="l" t="t" r="r" b="b"/>
            <a:pathLst>
              <a:path w="5699125" h="5292">
                <a:moveTo>
                  <a:pt x="0" y="0"/>
                </a:moveTo>
                <a:lnTo>
                  <a:pt x="5699125" y="0"/>
                </a:lnTo>
                <a:lnTo>
                  <a:pt x="569912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A7A9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34125" y="133350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49219" y="146050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73875" y="1349379"/>
            <a:ext cx="173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Career Services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3875" y="1603379"/>
            <a:ext cx="1698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Institutional Value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3969" y="244028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07969" y="2408539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Outcome Reporting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07969" y="2630789"/>
            <a:ext cx="5167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accurate placement statistics, employer metrics, and hiring trends for leadership and accreditation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3969" y="346852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07969" y="3436771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 Making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07969" y="3659021"/>
            <a:ext cx="5167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which employers, programs, and strategies lead to the best outcomes for continuous improvement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3969" y="449684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07969" y="4465096"/>
            <a:ext cx="449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Employer Relations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07969" y="4687346"/>
            <a:ext cx="448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employer engagement, hiring patterns, and partnership ROI to strengthen relationships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3969" y="536632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07969" y="5334577"/>
            <a:ext cx="461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Streamlined Processes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07969" y="5556827"/>
            <a:ext cx="460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reporting reduces manual effort for accreditation, rankings, and leadership requests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3969" y="623590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07969" y="6204152"/>
            <a:ext cx="392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07969" y="6426402"/>
            <a:ext cx="392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 staff time from data compilation to high-value student support activities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17500" y="7115143"/>
            <a:ext cx="11557000" cy="920750"/>
          </a:xfrm>
          <a:custGeom>
            <a:avLst/>
            <a:gdLst/>
            <a:ahLst/>
            <a:cxnLst/>
            <a:rect l="l" t="t" r="r" b="b"/>
            <a:pathLst>
              <a:path w="11557000" h="920750">
                <a:moveTo>
                  <a:pt x="63504" y="0"/>
                </a:moveTo>
                <a:lnTo>
                  <a:pt x="11493496" y="0"/>
                </a:lnTo>
                <a:cubicBezTo>
                  <a:pt x="11528568" y="0"/>
                  <a:pt x="11557000" y="28432"/>
                  <a:pt x="11557000" y="63504"/>
                </a:cubicBezTo>
                <a:lnTo>
                  <a:pt x="11557000" y="857246"/>
                </a:lnTo>
                <a:cubicBezTo>
                  <a:pt x="11557000" y="892318"/>
                  <a:pt x="11528568" y="920750"/>
                  <a:pt x="11493496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76250" y="74564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69156" y="7242143"/>
            <a:ext cx="1095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Impact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9156" y="7496143"/>
            <a:ext cx="10945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JobTrack transforms fragmented manual processes into streamlined digital workflows, delivering measurable improvements in student success rates, advising efficiency, and institutional reporting capabilities.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166c7e8946ffcbda6d1e92332dcf82578ba3c34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0758" b="20758"/>
          <a:stretch/>
        </p:blipFill>
        <p:spPr>
          <a:xfrm>
            <a:off x="0" y="0"/>
            <a:ext cx="12192000" cy="713030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130306"/>
          </a:xfrm>
          <a:custGeom>
            <a:avLst/>
            <a:gdLst/>
            <a:ahLst/>
            <a:cxnLst/>
            <a:rect l="l" t="t" r="r" b="b"/>
            <a:pathLst>
              <a:path w="12192000" h="7130306">
                <a:moveTo>
                  <a:pt x="0" y="0"/>
                </a:moveTo>
                <a:lnTo>
                  <a:pt x="12192000" y="0"/>
                </a:lnTo>
                <a:lnTo>
                  <a:pt x="12192000" y="7130306"/>
                </a:lnTo>
                <a:lnTo>
                  <a:pt x="0" y="713030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90000"/>
                </a:srgbClr>
              </a:gs>
              <a:gs pos="100000">
                <a:srgbClr val="5A7A96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6126" y="366126"/>
            <a:ext cx="1620108" cy="329514"/>
          </a:xfrm>
          <a:custGeom>
            <a:avLst/>
            <a:gdLst/>
            <a:ahLst/>
            <a:cxnLst/>
            <a:rect l="l" t="t" r="r" b="b"/>
            <a:pathLst>
              <a:path w="1620108" h="329514">
                <a:moveTo>
                  <a:pt x="0" y="0"/>
                </a:moveTo>
                <a:lnTo>
                  <a:pt x="1620108" y="0"/>
                </a:lnTo>
                <a:lnTo>
                  <a:pt x="1620108" y="329514"/>
                </a:lnTo>
                <a:lnTo>
                  <a:pt x="0" y="329514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6126" y="366126"/>
            <a:ext cx="1684180" cy="329514"/>
          </a:xfrm>
          <a:prstGeom prst="rect">
            <a:avLst/>
          </a:prstGeom>
          <a:noFill/>
          <a:ln/>
        </p:spPr>
        <p:txBody>
          <a:bodyPr wrap="square" lIns="146450" tIns="73225" rIns="146450" bIns="73225" rtlCol="0" anchor="ctr"/>
          <a:lstStyle/>
          <a:p>
            <a:pPr>
              <a:lnSpc>
                <a:spcPct val="120000"/>
              </a:lnSpc>
            </a:pPr>
            <a:r>
              <a:rPr lang="en-US" sz="1009" b="1" kern="0" spc="50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6126" y="842090"/>
            <a:ext cx="11679423" cy="109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59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Job/Internship Application Tracking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6126" y="2086919"/>
            <a:ext cx="1171604" cy="36613"/>
          </a:xfrm>
          <a:custGeom>
            <a:avLst/>
            <a:gdLst/>
            <a:ahLst/>
            <a:cxnLst/>
            <a:rect l="l" t="t" r="r" b="b"/>
            <a:pathLst>
              <a:path w="1171604" h="36613">
                <a:moveTo>
                  <a:pt x="0" y="0"/>
                </a:moveTo>
                <a:lnTo>
                  <a:pt x="1171604" y="0"/>
                </a:lnTo>
                <a:lnTo>
                  <a:pt x="1171604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9177" y="2565934"/>
            <a:ext cx="5626138" cy="1452300"/>
          </a:xfrm>
          <a:custGeom>
            <a:avLst/>
            <a:gdLst/>
            <a:ahLst/>
            <a:cxnLst/>
            <a:rect l="l" t="t" r="r" b="b"/>
            <a:pathLst>
              <a:path w="5626138" h="1452300">
                <a:moveTo>
                  <a:pt x="73225" y="0"/>
                </a:moveTo>
                <a:lnTo>
                  <a:pt x="5552913" y="0"/>
                </a:lnTo>
                <a:cubicBezTo>
                  <a:pt x="5593354" y="0"/>
                  <a:pt x="5626138" y="32784"/>
                  <a:pt x="5626138" y="73225"/>
                </a:cubicBezTo>
                <a:lnTo>
                  <a:pt x="5626138" y="1379075"/>
                </a:lnTo>
                <a:cubicBezTo>
                  <a:pt x="5626138" y="1419516"/>
                  <a:pt x="5593354" y="1452300"/>
                  <a:pt x="5552913" y="1452300"/>
                </a:cubicBezTo>
                <a:lnTo>
                  <a:pt x="73225" y="1452300"/>
                </a:lnTo>
                <a:cubicBezTo>
                  <a:pt x="32784" y="1452300"/>
                  <a:pt x="0" y="1419516"/>
                  <a:pt x="0" y="1379075"/>
                </a:cubicBezTo>
                <a:lnTo>
                  <a:pt x="0" y="73225"/>
                </a:lnTo>
                <a:cubicBezTo>
                  <a:pt x="0" y="32811"/>
                  <a:pt x="32811" y="0"/>
                  <a:pt x="7322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8467">
            <a:solidFill>
              <a:srgbClr val="F8F9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2751" y="2770357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92216" y="109838"/>
                </a:moveTo>
                <a:cubicBezTo>
                  <a:pt x="192216" y="64372"/>
                  <a:pt x="155304" y="27459"/>
                  <a:pt x="109838" y="27459"/>
                </a:cubicBezTo>
                <a:cubicBezTo>
                  <a:pt x="64372" y="27459"/>
                  <a:pt x="27459" y="64372"/>
                  <a:pt x="27459" y="109838"/>
                </a:cubicBezTo>
                <a:cubicBezTo>
                  <a:pt x="27459" y="155304"/>
                  <a:pt x="64372" y="192216"/>
                  <a:pt x="109838" y="192216"/>
                </a:cubicBezTo>
                <a:cubicBezTo>
                  <a:pt x="155304" y="192216"/>
                  <a:pt x="192216" y="155304"/>
                  <a:pt x="192216" y="109838"/>
                </a:cubicBezTo>
                <a:close/>
                <a:moveTo>
                  <a:pt x="0" y="109838"/>
                </a:moveTo>
                <a:cubicBezTo>
                  <a:pt x="0" y="49217"/>
                  <a:pt x="49217" y="0"/>
                  <a:pt x="109838" y="0"/>
                </a:cubicBezTo>
                <a:cubicBezTo>
                  <a:pt x="170459" y="0"/>
                  <a:pt x="219676" y="49217"/>
                  <a:pt x="219676" y="109838"/>
                </a:cubicBezTo>
                <a:cubicBezTo>
                  <a:pt x="219676" y="170459"/>
                  <a:pt x="170459" y="219676"/>
                  <a:pt x="109838" y="219676"/>
                </a:cubicBezTo>
                <a:cubicBezTo>
                  <a:pt x="49217" y="219676"/>
                  <a:pt x="0" y="170459"/>
                  <a:pt x="0" y="109838"/>
                </a:cubicBezTo>
                <a:close/>
                <a:moveTo>
                  <a:pt x="109838" y="144162"/>
                </a:moveTo>
                <a:cubicBezTo>
                  <a:pt x="128782" y="144162"/>
                  <a:pt x="144162" y="128782"/>
                  <a:pt x="144162" y="109838"/>
                </a:cubicBezTo>
                <a:cubicBezTo>
                  <a:pt x="144162" y="90894"/>
                  <a:pt x="128782" y="75514"/>
                  <a:pt x="109838" y="75514"/>
                </a:cubicBezTo>
                <a:cubicBezTo>
                  <a:pt x="90894" y="75514"/>
                  <a:pt x="75514" y="90894"/>
                  <a:pt x="75514" y="109838"/>
                </a:cubicBezTo>
                <a:cubicBezTo>
                  <a:pt x="75514" y="128782"/>
                  <a:pt x="90894" y="144162"/>
                  <a:pt x="109838" y="144162"/>
                </a:cubicBezTo>
                <a:close/>
                <a:moveTo>
                  <a:pt x="109838" y="48054"/>
                </a:moveTo>
                <a:cubicBezTo>
                  <a:pt x="143937" y="48054"/>
                  <a:pt x="171622" y="75738"/>
                  <a:pt x="171622" y="109838"/>
                </a:cubicBezTo>
                <a:cubicBezTo>
                  <a:pt x="171622" y="143937"/>
                  <a:pt x="143937" y="171622"/>
                  <a:pt x="109838" y="171622"/>
                </a:cubicBezTo>
                <a:cubicBezTo>
                  <a:pt x="75738" y="171622"/>
                  <a:pt x="48054" y="143937"/>
                  <a:pt x="48054" y="109838"/>
                </a:cubicBezTo>
                <a:cubicBezTo>
                  <a:pt x="48054" y="75738"/>
                  <a:pt x="75738" y="48054"/>
                  <a:pt x="109838" y="48054"/>
                </a:cubicBezTo>
                <a:close/>
                <a:moveTo>
                  <a:pt x="96108" y="109838"/>
                </a:moveTo>
                <a:cubicBezTo>
                  <a:pt x="96108" y="102260"/>
                  <a:pt x="102260" y="96108"/>
                  <a:pt x="109838" y="96108"/>
                </a:cubicBezTo>
                <a:cubicBezTo>
                  <a:pt x="117415" y="96108"/>
                  <a:pt x="123568" y="102260"/>
                  <a:pt x="123568" y="109838"/>
                </a:cubicBezTo>
                <a:cubicBezTo>
                  <a:pt x="123568" y="117415"/>
                  <a:pt x="117415" y="123568"/>
                  <a:pt x="109838" y="123568"/>
                </a:cubicBezTo>
                <a:cubicBezTo>
                  <a:pt x="102260" y="123568"/>
                  <a:pt x="96108" y="117415"/>
                  <a:pt x="96108" y="109838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9724" y="2752051"/>
            <a:ext cx="124482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5291" y="3118177"/>
            <a:ext cx="5327135" cy="713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Career Services offices face fragmented tracking systems, limited advising visibility, and manual reporting processes that hinder student success and institutional effectiveness.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88485" y="2565934"/>
            <a:ext cx="5626138" cy="1452300"/>
          </a:xfrm>
          <a:custGeom>
            <a:avLst/>
            <a:gdLst/>
            <a:ahLst/>
            <a:cxnLst/>
            <a:rect l="l" t="t" r="r" b="b"/>
            <a:pathLst>
              <a:path w="5626138" h="1452300">
                <a:moveTo>
                  <a:pt x="73225" y="0"/>
                </a:moveTo>
                <a:lnTo>
                  <a:pt x="5552913" y="0"/>
                </a:lnTo>
                <a:cubicBezTo>
                  <a:pt x="5593354" y="0"/>
                  <a:pt x="5626138" y="32784"/>
                  <a:pt x="5626138" y="73225"/>
                </a:cubicBezTo>
                <a:lnTo>
                  <a:pt x="5626138" y="1379075"/>
                </a:lnTo>
                <a:cubicBezTo>
                  <a:pt x="5626138" y="1419516"/>
                  <a:pt x="5593354" y="1452300"/>
                  <a:pt x="5552913" y="1452300"/>
                </a:cubicBezTo>
                <a:lnTo>
                  <a:pt x="73225" y="1452300"/>
                </a:lnTo>
                <a:cubicBezTo>
                  <a:pt x="32784" y="1452300"/>
                  <a:pt x="0" y="1419516"/>
                  <a:pt x="0" y="1379075"/>
                </a:cubicBezTo>
                <a:lnTo>
                  <a:pt x="0" y="73225"/>
                </a:lnTo>
                <a:cubicBezTo>
                  <a:pt x="0" y="32811"/>
                  <a:pt x="32811" y="0"/>
                  <a:pt x="7322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8467">
            <a:solidFill>
              <a:srgbClr val="F8F9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29518" y="2770357"/>
            <a:ext cx="164757" cy="219676"/>
          </a:xfrm>
          <a:custGeom>
            <a:avLst/>
            <a:gdLst/>
            <a:ahLst/>
            <a:cxnLst/>
            <a:rect l="l" t="t" r="r" b="b"/>
            <a:pathLst>
              <a:path w="164757" h="219676">
                <a:moveTo>
                  <a:pt x="125670" y="164757"/>
                </a:moveTo>
                <a:cubicBezTo>
                  <a:pt x="128802" y="155189"/>
                  <a:pt x="135066" y="146522"/>
                  <a:pt x="142146" y="139056"/>
                </a:cubicBezTo>
                <a:cubicBezTo>
                  <a:pt x="156176" y="124297"/>
                  <a:pt x="164757" y="104346"/>
                  <a:pt x="164757" y="82378"/>
                </a:cubicBezTo>
                <a:cubicBezTo>
                  <a:pt x="164757" y="36899"/>
                  <a:pt x="127858" y="0"/>
                  <a:pt x="82378" y="0"/>
                </a:cubicBezTo>
                <a:cubicBezTo>
                  <a:pt x="36899" y="0"/>
                  <a:pt x="0" y="36899"/>
                  <a:pt x="0" y="82378"/>
                </a:cubicBezTo>
                <a:cubicBezTo>
                  <a:pt x="0" y="104346"/>
                  <a:pt x="8581" y="124297"/>
                  <a:pt x="22611" y="139056"/>
                </a:cubicBezTo>
                <a:cubicBezTo>
                  <a:pt x="29691" y="146522"/>
                  <a:pt x="35998" y="155189"/>
                  <a:pt x="39087" y="164757"/>
                </a:cubicBezTo>
                <a:lnTo>
                  <a:pt x="125627" y="164757"/>
                </a:lnTo>
                <a:close/>
                <a:moveTo>
                  <a:pt x="123568" y="185351"/>
                </a:moveTo>
                <a:lnTo>
                  <a:pt x="41189" y="185351"/>
                </a:lnTo>
                <a:lnTo>
                  <a:pt x="41189" y="192216"/>
                </a:lnTo>
                <a:cubicBezTo>
                  <a:pt x="41189" y="211180"/>
                  <a:pt x="56549" y="226541"/>
                  <a:pt x="75514" y="226541"/>
                </a:cubicBezTo>
                <a:lnTo>
                  <a:pt x="89243" y="226541"/>
                </a:lnTo>
                <a:cubicBezTo>
                  <a:pt x="108207" y="226541"/>
                  <a:pt x="123568" y="211180"/>
                  <a:pt x="123568" y="192216"/>
                </a:cubicBezTo>
                <a:lnTo>
                  <a:pt x="123568" y="185351"/>
                </a:lnTo>
                <a:close/>
                <a:moveTo>
                  <a:pt x="78946" y="48054"/>
                </a:moveTo>
                <a:cubicBezTo>
                  <a:pt x="61870" y="48054"/>
                  <a:pt x="48054" y="61870"/>
                  <a:pt x="48054" y="78946"/>
                </a:cubicBezTo>
                <a:cubicBezTo>
                  <a:pt x="48054" y="84652"/>
                  <a:pt x="43463" y="89243"/>
                  <a:pt x="37757" y="89243"/>
                </a:cubicBezTo>
                <a:cubicBezTo>
                  <a:pt x="32050" y="89243"/>
                  <a:pt x="27459" y="84652"/>
                  <a:pt x="27459" y="78946"/>
                </a:cubicBezTo>
                <a:cubicBezTo>
                  <a:pt x="27459" y="50500"/>
                  <a:pt x="50500" y="27459"/>
                  <a:pt x="78946" y="27459"/>
                </a:cubicBezTo>
                <a:cubicBezTo>
                  <a:pt x="84652" y="27459"/>
                  <a:pt x="89243" y="32050"/>
                  <a:pt x="89243" y="37757"/>
                </a:cubicBezTo>
                <a:cubicBezTo>
                  <a:pt x="89243" y="43463"/>
                  <a:pt x="84652" y="48054"/>
                  <a:pt x="78946" y="48054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59032" y="2752051"/>
            <a:ext cx="1098378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74599" y="3118177"/>
            <a:ext cx="5327135" cy="713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3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JobTrack delivers a centralized information system using proven three-tier architecture and open-source technologies to modernize career services operations.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9177" y="4244009"/>
            <a:ext cx="11447544" cy="1360769"/>
          </a:xfrm>
          <a:custGeom>
            <a:avLst/>
            <a:gdLst/>
            <a:ahLst/>
            <a:cxnLst/>
            <a:rect l="l" t="t" r="r" b="b"/>
            <a:pathLst>
              <a:path w="11447544" h="1360769">
                <a:moveTo>
                  <a:pt x="73223" y="0"/>
                </a:moveTo>
                <a:lnTo>
                  <a:pt x="11374321" y="0"/>
                </a:lnTo>
                <a:cubicBezTo>
                  <a:pt x="11414761" y="0"/>
                  <a:pt x="11447544" y="32783"/>
                  <a:pt x="11447544" y="73223"/>
                </a:cubicBezTo>
                <a:lnTo>
                  <a:pt x="11447544" y="1287546"/>
                </a:lnTo>
                <a:cubicBezTo>
                  <a:pt x="11447544" y="1327986"/>
                  <a:pt x="11414761" y="1360769"/>
                  <a:pt x="11374321" y="1360769"/>
                </a:cubicBezTo>
                <a:lnTo>
                  <a:pt x="73223" y="1360769"/>
                </a:lnTo>
                <a:cubicBezTo>
                  <a:pt x="32810" y="1360769"/>
                  <a:pt x="0" y="1327959"/>
                  <a:pt x="0" y="1287546"/>
                </a:cubicBezTo>
                <a:lnTo>
                  <a:pt x="0" y="73223"/>
                </a:lnTo>
                <a:cubicBezTo>
                  <a:pt x="0" y="32810"/>
                  <a:pt x="32810" y="0"/>
                  <a:pt x="73223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 w="8467">
            <a:solidFill>
              <a:srgbClr val="C5A5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6733" y="4466739"/>
            <a:ext cx="205946" cy="183063"/>
          </a:xfrm>
          <a:custGeom>
            <a:avLst/>
            <a:gdLst/>
            <a:ahLst/>
            <a:cxnLst/>
            <a:rect l="l" t="t" r="r" b="b"/>
            <a:pathLst>
              <a:path w="205946" h="183063">
                <a:moveTo>
                  <a:pt x="110660" y="-6758"/>
                </a:moveTo>
                <a:cubicBezTo>
                  <a:pt x="109194" y="-9618"/>
                  <a:pt x="106227" y="-11441"/>
                  <a:pt x="103009" y="-11441"/>
                </a:cubicBezTo>
                <a:cubicBezTo>
                  <a:pt x="99791" y="-11441"/>
                  <a:pt x="96823" y="-9618"/>
                  <a:pt x="95357" y="-6758"/>
                </a:cubicBezTo>
                <a:lnTo>
                  <a:pt x="69042" y="44800"/>
                </a:lnTo>
                <a:lnTo>
                  <a:pt x="11870" y="53882"/>
                </a:lnTo>
                <a:cubicBezTo>
                  <a:pt x="8688" y="54383"/>
                  <a:pt x="6043" y="56635"/>
                  <a:pt x="5041" y="59710"/>
                </a:cubicBezTo>
                <a:cubicBezTo>
                  <a:pt x="4040" y="62785"/>
                  <a:pt x="4863" y="66146"/>
                  <a:pt x="7115" y="68434"/>
                </a:cubicBezTo>
                <a:lnTo>
                  <a:pt x="48018" y="109373"/>
                </a:lnTo>
                <a:lnTo>
                  <a:pt x="39008" y="166544"/>
                </a:lnTo>
                <a:cubicBezTo>
                  <a:pt x="38508" y="169727"/>
                  <a:pt x="39831" y="172945"/>
                  <a:pt x="42441" y="174840"/>
                </a:cubicBezTo>
                <a:cubicBezTo>
                  <a:pt x="45051" y="176735"/>
                  <a:pt x="48483" y="177021"/>
                  <a:pt x="51379" y="175555"/>
                </a:cubicBezTo>
                <a:lnTo>
                  <a:pt x="103009" y="149311"/>
                </a:lnTo>
                <a:lnTo>
                  <a:pt x="154602" y="175555"/>
                </a:lnTo>
                <a:cubicBezTo>
                  <a:pt x="157463" y="177021"/>
                  <a:pt x="160931" y="176735"/>
                  <a:pt x="163541" y="174840"/>
                </a:cubicBezTo>
                <a:cubicBezTo>
                  <a:pt x="166151" y="172945"/>
                  <a:pt x="167474" y="169762"/>
                  <a:pt x="166974" y="166544"/>
                </a:cubicBezTo>
                <a:lnTo>
                  <a:pt x="157928" y="109373"/>
                </a:lnTo>
                <a:lnTo>
                  <a:pt x="198831" y="68434"/>
                </a:lnTo>
                <a:cubicBezTo>
                  <a:pt x="201119" y="66146"/>
                  <a:pt x="201906" y="62785"/>
                  <a:pt x="200905" y="59710"/>
                </a:cubicBezTo>
                <a:cubicBezTo>
                  <a:pt x="199903" y="56635"/>
                  <a:pt x="197293" y="54383"/>
                  <a:pt x="194075" y="53882"/>
                </a:cubicBezTo>
                <a:lnTo>
                  <a:pt x="136940" y="44800"/>
                </a:lnTo>
                <a:lnTo>
                  <a:pt x="110660" y="-6758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4120" y="4430126"/>
            <a:ext cx="10938018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Value Propositions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5291" y="4796252"/>
            <a:ext cx="367041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5291" y="5052541"/>
            <a:ext cx="366126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Streamlined application tracking and improved career readiness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96547" y="4796252"/>
            <a:ext cx="367041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Advisors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296547" y="5052541"/>
            <a:ext cx="3661261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pipeline visibility and proactive intervention capabilities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37804" y="4796252"/>
            <a:ext cx="367041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Administration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37804" y="5052541"/>
            <a:ext cx="366126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outcome reporting and data-driven decision making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6126" y="582751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5712" y="5955655"/>
            <a:ext cx="160180" cy="183063"/>
          </a:xfrm>
          <a:custGeom>
            <a:avLst/>
            <a:gdLst/>
            <a:ahLst/>
            <a:cxnLst/>
            <a:rect l="l" t="t" r="r" b="b"/>
            <a:pathLst>
              <a:path w="160180" h="183063">
                <a:moveTo>
                  <a:pt x="45766" y="0"/>
                </a:moveTo>
                <a:cubicBezTo>
                  <a:pt x="52094" y="0"/>
                  <a:pt x="57207" y="5113"/>
                  <a:pt x="57207" y="11441"/>
                </a:cubicBezTo>
                <a:lnTo>
                  <a:pt x="57207" y="22883"/>
                </a:lnTo>
                <a:lnTo>
                  <a:pt x="102973" y="22883"/>
                </a:lnTo>
                <a:lnTo>
                  <a:pt x="102973" y="11441"/>
                </a:lnTo>
                <a:cubicBezTo>
                  <a:pt x="102973" y="5113"/>
                  <a:pt x="108086" y="0"/>
                  <a:pt x="114414" y="0"/>
                </a:cubicBezTo>
                <a:cubicBezTo>
                  <a:pt x="120743" y="0"/>
                  <a:pt x="125856" y="5113"/>
                  <a:pt x="125856" y="11441"/>
                </a:cubicBezTo>
                <a:lnTo>
                  <a:pt x="125856" y="22883"/>
                </a:lnTo>
                <a:lnTo>
                  <a:pt x="137297" y="22883"/>
                </a:lnTo>
                <a:cubicBezTo>
                  <a:pt x="149919" y="22883"/>
                  <a:pt x="160180" y="33144"/>
                  <a:pt x="160180" y="45766"/>
                </a:cubicBezTo>
                <a:lnTo>
                  <a:pt x="160180" y="148739"/>
                </a:lnTo>
                <a:cubicBezTo>
                  <a:pt x="160180" y="161360"/>
                  <a:pt x="149919" y="171622"/>
                  <a:pt x="137297" y="171622"/>
                </a:cubicBezTo>
                <a:lnTo>
                  <a:pt x="22883" y="171622"/>
                </a:lnTo>
                <a:cubicBezTo>
                  <a:pt x="10262" y="171622"/>
                  <a:pt x="0" y="161360"/>
                  <a:pt x="0" y="148739"/>
                </a:cubicBezTo>
                <a:lnTo>
                  <a:pt x="0" y="45766"/>
                </a:lnTo>
                <a:cubicBezTo>
                  <a:pt x="0" y="33144"/>
                  <a:pt x="10262" y="22883"/>
                  <a:pt x="22883" y="22883"/>
                </a:cubicBezTo>
                <a:lnTo>
                  <a:pt x="34324" y="22883"/>
                </a:lnTo>
                <a:lnTo>
                  <a:pt x="34324" y="11441"/>
                </a:lnTo>
                <a:cubicBezTo>
                  <a:pt x="34324" y="5113"/>
                  <a:pt x="39437" y="0"/>
                  <a:pt x="45766" y="0"/>
                </a:cubicBezTo>
                <a:close/>
                <a:moveTo>
                  <a:pt x="110267" y="81771"/>
                </a:moveTo>
                <a:cubicBezTo>
                  <a:pt x="112770" y="77766"/>
                  <a:pt x="111554" y="72474"/>
                  <a:pt x="107550" y="69936"/>
                </a:cubicBezTo>
                <a:cubicBezTo>
                  <a:pt x="103545" y="67397"/>
                  <a:pt x="98253" y="68649"/>
                  <a:pt x="95715" y="72653"/>
                </a:cubicBezTo>
                <a:lnTo>
                  <a:pt x="73762" y="107800"/>
                </a:lnTo>
                <a:lnTo>
                  <a:pt x="64108" y="94928"/>
                </a:lnTo>
                <a:cubicBezTo>
                  <a:pt x="61247" y="91138"/>
                  <a:pt x="55884" y="90352"/>
                  <a:pt x="52094" y="93212"/>
                </a:cubicBezTo>
                <a:cubicBezTo>
                  <a:pt x="48304" y="96072"/>
                  <a:pt x="47518" y="101436"/>
                  <a:pt x="50378" y="105226"/>
                </a:cubicBezTo>
                <a:lnTo>
                  <a:pt x="67540" y="128108"/>
                </a:lnTo>
                <a:cubicBezTo>
                  <a:pt x="69221" y="130361"/>
                  <a:pt x="71938" y="131648"/>
                  <a:pt x="74763" y="131541"/>
                </a:cubicBezTo>
                <a:cubicBezTo>
                  <a:pt x="77587" y="131434"/>
                  <a:pt x="80162" y="129932"/>
                  <a:pt x="81663" y="127501"/>
                </a:cubicBezTo>
                <a:lnTo>
                  <a:pt x="110267" y="81735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5315" y="5827510"/>
            <a:ext cx="759712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5315" y="6010574"/>
            <a:ext cx="778018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Weeks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833110" y="582751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995578" y="5955655"/>
            <a:ext cx="114414" cy="183063"/>
          </a:xfrm>
          <a:custGeom>
            <a:avLst/>
            <a:gdLst/>
            <a:ahLst/>
            <a:cxnLst/>
            <a:rect l="l" t="t" r="r" b="b"/>
            <a:pathLst>
              <a:path w="114414" h="183063">
                <a:moveTo>
                  <a:pt x="48626" y="8581"/>
                </a:moveTo>
                <a:cubicBezTo>
                  <a:pt x="48626" y="3826"/>
                  <a:pt x="52452" y="0"/>
                  <a:pt x="57207" y="0"/>
                </a:cubicBezTo>
                <a:cubicBezTo>
                  <a:pt x="61963" y="0"/>
                  <a:pt x="65788" y="3826"/>
                  <a:pt x="65788" y="8581"/>
                </a:cubicBezTo>
                <a:lnTo>
                  <a:pt x="65788" y="22883"/>
                </a:lnTo>
                <a:lnTo>
                  <a:pt x="85811" y="22883"/>
                </a:lnTo>
                <a:cubicBezTo>
                  <a:pt x="92139" y="22883"/>
                  <a:pt x="97252" y="27996"/>
                  <a:pt x="97252" y="34324"/>
                </a:cubicBezTo>
                <a:cubicBezTo>
                  <a:pt x="97252" y="40653"/>
                  <a:pt x="92139" y="45766"/>
                  <a:pt x="85811" y="45766"/>
                </a:cubicBezTo>
                <a:lnTo>
                  <a:pt x="44729" y="45766"/>
                </a:lnTo>
                <a:cubicBezTo>
                  <a:pt x="35826" y="45766"/>
                  <a:pt x="28604" y="52988"/>
                  <a:pt x="28604" y="61891"/>
                </a:cubicBezTo>
                <a:cubicBezTo>
                  <a:pt x="28604" y="69936"/>
                  <a:pt x="34503" y="76729"/>
                  <a:pt x="42441" y="77873"/>
                </a:cubicBezTo>
                <a:lnTo>
                  <a:pt x="75192" y="82557"/>
                </a:lnTo>
                <a:cubicBezTo>
                  <a:pt x="94428" y="85310"/>
                  <a:pt x="108694" y="101757"/>
                  <a:pt x="108694" y="121172"/>
                </a:cubicBezTo>
                <a:cubicBezTo>
                  <a:pt x="108694" y="142732"/>
                  <a:pt x="91210" y="160180"/>
                  <a:pt x="69686" y="160180"/>
                </a:cubicBezTo>
                <a:lnTo>
                  <a:pt x="65788" y="160180"/>
                </a:lnTo>
                <a:lnTo>
                  <a:pt x="65788" y="174482"/>
                </a:lnTo>
                <a:cubicBezTo>
                  <a:pt x="65788" y="179237"/>
                  <a:pt x="61963" y="183063"/>
                  <a:pt x="57207" y="183063"/>
                </a:cubicBezTo>
                <a:cubicBezTo>
                  <a:pt x="52452" y="183063"/>
                  <a:pt x="48626" y="179237"/>
                  <a:pt x="48626" y="174482"/>
                </a:cubicBezTo>
                <a:lnTo>
                  <a:pt x="48626" y="160180"/>
                </a:lnTo>
                <a:lnTo>
                  <a:pt x="22883" y="160180"/>
                </a:lnTo>
                <a:cubicBezTo>
                  <a:pt x="16554" y="160180"/>
                  <a:pt x="11441" y="155067"/>
                  <a:pt x="11441" y="148739"/>
                </a:cubicBezTo>
                <a:cubicBezTo>
                  <a:pt x="11441" y="142410"/>
                  <a:pt x="16554" y="137297"/>
                  <a:pt x="22883" y="137297"/>
                </a:cubicBezTo>
                <a:lnTo>
                  <a:pt x="69686" y="137297"/>
                </a:lnTo>
                <a:cubicBezTo>
                  <a:pt x="78588" y="137297"/>
                  <a:pt x="85811" y="130075"/>
                  <a:pt x="85811" y="121172"/>
                </a:cubicBezTo>
                <a:cubicBezTo>
                  <a:pt x="85811" y="113127"/>
                  <a:pt x="79911" y="106334"/>
                  <a:pt x="71974" y="105190"/>
                </a:cubicBezTo>
                <a:lnTo>
                  <a:pt x="39223" y="100506"/>
                </a:lnTo>
                <a:cubicBezTo>
                  <a:pt x="19987" y="97789"/>
                  <a:pt x="5721" y="81306"/>
                  <a:pt x="5721" y="61891"/>
                </a:cubicBezTo>
                <a:cubicBezTo>
                  <a:pt x="5721" y="40367"/>
                  <a:pt x="23205" y="22883"/>
                  <a:pt x="44729" y="22883"/>
                </a:cubicBezTo>
                <a:lnTo>
                  <a:pt x="48626" y="22883"/>
                </a:lnTo>
                <a:lnTo>
                  <a:pt x="48626" y="8581"/>
                </a:ln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382299" y="5827510"/>
            <a:ext cx="1372973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382299" y="6010574"/>
            <a:ext cx="139127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 (Open Source)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910208" y="582751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38352" y="5955655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91532" y="183063"/>
                </a:moveTo>
                <a:cubicBezTo>
                  <a:pt x="142049" y="183063"/>
                  <a:pt x="183063" y="142049"/>
                  <a:pt x="183063" y="91532"/>
                </a:cubicBezTo>
                <a:cubicBezTo>
                  <a:pt x="183063" y="41014"/>
                  <a:pt x="142049" y="0"/>
                  <a:pt x="91532" y="0"/>
                </a:cubicBezTo>
                <a:cubicBezTo>
                  <a:pt x="41014" y="0"/>
                  <a:pt x="0" y="41014"/>
                  <a:pt x="0" y="91532"/>
                </a:cubicBezTo>
                <a:cubicBezTo>
                  <a:pt x="0" y="142049"/>
                  <a:pt x="41014" y="183063"/>
                  <a:pt x="91532" y="183063"/>
                </a:cubicBezTo>
                <a:close/>
                <a:moveTo>
                  <a:pt x="121708" y="76050"/>
                </a:moveTo>
                <a:lnTo>
                  <a:pt x="93105" y="121816"/>
                </a:lnTo>
                <a:cubicBezTo>
                  <a:pt x="91603" y="124211"/>
                  <a:pt x="89029" y="125713"/>
                  <a:pt x="86204" y="125856"/>
                </a:cubicBezTo>
                <a:cubicBezTo>
                  <a:pt x="83380" y="125999"/>
                  <a:pt x="80662" y="124712"/>
                  <a:pt x="78982" y="122423"/>
                </a:cubicBezTo>
                <a:lnTo>
                  <a:pt x="61820" y="99541"/>
                </a:lnTo>
                <a:cubicBezTo>
                  <a:pt x="58959" y="95751"/>
                  <a:pt x="59746" y="90387"/>
                  <a:pt x="63536" y="87527"/>
                </a:cubicBezTo>
                <a:cubicBezTo>
                  <a:pt x="67326" y="84667"/>
                  <a:pt x="72689" y="85453"/>
                  <a:pt x="75549" y="89243"/>
                </a:cubicBezTo>
                <a:lnTo>
                  <a:pt x="85203" y="102115"/>
                </a:lnTo>
                <a:lnTo>
                  <a:pt x="107156" y="66968"/>
                </a:lnTo>
                <a:cubicBezTo>
                  <a:pt x="109659" y="62964"/>
                  <a:pt x="114951" y="61712"/>
                  <a:pt x="118991" y="64251"/>
                </a:cubicBezTo>
                <a:cubicBezTo>
                  <a:pt x="123031" y="66789"/>
                  <a:pt x="124247" y="72045"/>
                  <a:pt x="121708" y="76086"/>
                </a:cubicBezTo>
                <a:close/>
              </a:path>
            </a:pathLst>
          </a:cu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459397" y="5827510"/>
            <a:ext cx="61326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459397" y="6010574"/>
            <a:ext cx="631568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66126" y="6269913"/>
            <a:ext cx="11459748" cy="6102"/>
          </a:xfrm>
          <a:custGeom>
            <a:avLst/>
            <a:gdLst/>
            <a:ahLst/>
            <a:cxnLst/>
            <a:rect l="l" t="t" r="r" b="b"/>
            <a:pathLst>
              <a:path w="11459748" h="6102">
                <a:moveTo>
                  <a:pt x="0" y="0"/>
                </a:moveTo>
                <a:lnTo>
                  <a:pt x="11459748" y="0"/>
                </a:lnTo>
                <a:lnTo>
                  <a:pt x="11459748" y="6102"/>
                </a:lnTo>
                <a:lnTo>
                  <a:pt x="0" y="6102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66126" y="6419408"/>
            <a:ext cx="3231063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66126" y="6639084"/>
            <a:ext cx="3240216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5 - BIS 698 Information Systems Capstone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25763" y="6419408"/>
            <a:ext cx="1199063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9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Date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16610" y="6639084"/>
            <a:ext cx="1208216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53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January 28,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d004a43e316a2818d0a9e22552125d669ab0a7ff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85000"/>
                </a:srgbClr>
              </a:gs>
              <a:gs pos="100000">
                <a:srgbClr val="5A7A96">
                  <a:alpha val="7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1819275" cy="342900"/>
          </a:xfrm>
          <a:custGeom>
            <a:avLst/>
            <a:gdLst/>
            <a:ahLst/>
            <a:cxnLst/>
            <a:rect l="l" t="t" r="r" b="b"/>
            <a:pathLst>
              <a:path w="1819275" h="342900">
                <a:moveTo>
                  <a:pt x="0" y="0"/>
                </a:moveTo>
                <a:lnTo>
                  <a:pt x="1819275" y="0"/>
                </a:lnTo>
                <a:lnTo>
                  <a:pt x="1819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81000" y="381000"/>
            <a:ext cx="18859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PROPOSAL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474101" y="381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 698 - Information Systems Capstone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25600"/>
            <a:ext cx="117729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31158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2978150"/>
            <a:ext cx="116014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225925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57499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1000" y="59817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2103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419159" y="59817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Date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400109" y="62103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January 28,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1920</Words>
  <Application>Microsoft Office PowerPoint</Application>
  <PresentationFormat>Widescreen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Oranienbaum</vt:lpstr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JobTrack - Job/Internship Application Tracking System</dc:title>
  <dc:subject>JobTrack - Job/Internship Application Tracking System</dc:subject>
  <dc:creator>Kimi</dc:creator>
  <cp:lastModifiedBy>Kannur Munirathnam, Dhanalakshmi</cp:lastModifiedBy>
  <cp:revision>2</cp:revision>
  <dcterms:created xsi:type="dcterms:W3CDTF">2026-01-29T02:19:16Z</dcterms:created>
  <dcterms:modified xsi:type="dcterms:W3CDTF">2026-01-29T02:39:30Z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{"Label":"JobTrack - Job/Internship Application Tracking System","ContentProducer":"001191110108MACG2KBH8F10000","ProduceID":"19c0784a-3762-8cc8-8000-0000fb133270","ReservedCode1":"","ContentPropagator":"001191110108MACG2KBH8F20000","PropagateID":"19c0784a-3762-8cc8-8000-0000fb133270","ReservedCode2":""}</vt:lpwstr>
  </property>
</Properties>
</file>